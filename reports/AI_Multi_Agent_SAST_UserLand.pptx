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4c427364b46cc" /><Relationship Type="http://schemas.openxmlformats.org/officeDocument/2006/relationships/extended-properties" Target="/docProps/app.xml" Id="R193d8786a71946db" /><Relationship Type="http://schemas.openxmlformats.org/officeDocument/2006/relationships/officeDocument" Target="/ppt/presentation.xml" Id="R328cd145c9ca49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fbc334de594ee9"/>
  </p:sldMasterIdLst>
  <p:notesMasterIdLst>
    <p:notesMasterId xmlns:r="http://schemas.openxmlformats.org/officeDocument/2006/relationships" r:id="R1f2f2615df074238"/>
  </p:notesMasterIdLst>
  <p:sldIdLst>
    <p:sldId xmlns:r="http://schemas.openxmlformats.org/officeDocument/2006/relationships" id="256" r:id="R2383a26fe1ce49b0"/>
    <p:sldId xmlns:r="http://schemas.openxmlformats.org/officeDocument/2006/relationships" id="257" r:id="R8979c78d165043b1"/>
    <p:sldId xmlns:r="http://schemas.openxmlformats.org/officeDocument/2006/relationships" id="258" r:id="Rd089921adf1b43a5"/>
    <p:sldId xmlns:r="http://schemas.openxmlformats.org/officeDocument/2006/relationships" id="259" r:id="R70b068122b3e45c4"/>
    <p:sldId xmlns:r="http://schemas.openxmlformats.org/officeDocument/2006/relationships" id="260" r:id="Rd35e6bafc260414c"/>
    <p:sldId xmlns:r="http://schemas.openxmlformats.org/officeDocument/2006/relationships" id="261" r:id="R7392f7058ce84ee0"/>
    <p:sldId xmlns:r="http://schemas.openxmlformats.org/officeDocument/2006/relationships" id="262" r:id="R1fb2ef1a50af42bb"/>
    <p:sldId xmlns:r="http://schemas.openxmlformats.org/officeDocument/2006/relationships" id="263" r:id="Ref611fa40b4040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1fc41867054262" /><Relationship Type="http://schemas.openxmlformats.org/officeDocument/2006/relationships/slideMaster" Target="/ppt/slideMasters/slideMaster1.xml" Id="Rfbfbc334de594ee9" /><Relationship Type="http://schemas.openxmlformats.org/officeDocument/2006/relationships/notesMaster" Target="/ppt/notesMasters/notesMaster1.xml" Id="R1f2f2615df074238" /><Relationship Type="http://schemas.openxmlformats.org/officeDocument/2006/relationships/presProps" Target="/ppt/presProps.xml" Id="R27a7893e513b488d" /><Relationship Type="http://schemas.openxmlformats.org/officeDocument/2006/relationships/tableStyles" Target="/ppt/tableStyles.xml" Id="R8b4bb5a9d57e4e9a" /><Relationship Type="http://schemas.openxmlformats.org/officeDocument/2006/relationships/slide" Target="/ppt/slides/slide1.xml" Id="R2383a26fe1ce49b0" /><Relationship Type="http://schemas.openxmlformats.org/officeDocument/2006/relationships/slide" Target="/ppt/slides/slide2.xml" Id="R8979c78d165043b1" /><Relationship Type="http://schemas.openxmlformats.org/officeDocument/2006/relationships/slide" Target="/ppt/slides/slide3.xml" Id="Rd089921adf1b43a5" /><Relationship Type="http://schemas.openxmlformats.org/officeDocument/2006/relationships/slide" Target="/ppt/slides/slide4.xml" Id="R70b068122b3e45c4" /><Relationship Type="http://schemas.openxmlformats.org/officeDocument/2006/relationships/slide" Target="/ppt/slides/slide5.xml" Id="Rd35e6bafc260414c" /><Relationship Type="http://schemas.openxmlformats.org/officeDocument/2006/relationships/slide" Target="/ppt/slides/slide6.xml" Id="R7392f7058ce84ee0" /><Relationship Type="http://schemas.openxmlformats.org/officeDocument/2006/relationships/slide" Target="/ppt/slides/slide7.xml" Id="R1fb2ef1a50af42bb" /><Relationship Type="http://schemas.openxmlformats.org/officeDocument/2006/relationships/slide" Target="/ppt/slides/slide8.xml" Id="Ref611fa40b4040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eeedac4d10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b7bf2b0dc62402d" /><Relationship Type="http://schemas.openxmlformats.org/officeDocument/2006/relationships/notesMaster" Target="/ppt/notesMasters/notesMaster1.xml" Id="Rca7c7838567e42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60a43f8468148ba" /><Relationship Type="http://schemas.openxmlformats.org/officeDocument/2006/relationships/notesMaster" Target="/ppt/notesMasters/notesMaster1.xml" Id="R351e8ac9cd4041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89af7590e84e94" /><Relationship Type="http://schemas.openxmlformats.org/officeDocument/2006/relationships/notesMaster" Target="/ppt/notesMasters/notesMaster1.xml" Id="R5bbd63528a824be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b0aa4b27bd4f0a" /><Relationship Type="http://schemas.openxmlformats.org/officeDocument/2006/relationships/notesMaster" Target="/ppt/notesMasters/notesMaster1.xml" Id="Rc87201daf7ec4d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c9ae6826a64e06" /><Relationship Type="http://schemas.openxmlformats.org/officeDocument/2006/relationships/notesMaster" Target="/ppt/notesMasters/notesMaster1.xml" Id="Reda4b591b37e44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becd1826ee4239" /><Relationship Type="http://schemas.openxmlformats.org/officeDocument/2006/relationships/notesMaster" Target="/ppt/notesMasters/notesMaster1.xml" Id="R3b040d876fb04e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b9647598fc42c8" /><Relationship Type="http://schemas.openxmlformats.org/officeDocument/2006/relationships/notesMaster" Target="/ppt/notesMasters/notesMaster1.xml" Id="Rb8903d7f6b1d47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20791ed8c4949" /><Relationship Type="http://schemas.openxmlformats.org/officeDocument/2006/relationships/notesMaster" Target="/ppt/notesMasters/notesMaster1.xml" Id="Rd8269b7a79264f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eae3625c294f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fa1fcb9ee412d" /><Relationship Type="http://schemas.openxmlformats.org/officeDocument/2006/relationships/slideLayout" Target="/ppt/slideLayouts/slideLayout1.xml" Id="Rf404ea6c038147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04ea6c038147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6f219cf374508" /><Relationship Type="http://schemas.openxmlformats.org/officeDocument/2006/relationships/notesSlide" Target="/ppt/notesSlides/notesSlide1.xml" Id="R368c0e8515fe42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66fcb6e3a42d6" /><Relationship Type="http://schemas.openxmlformats.org/officeDocument/2006/relationships/notesSlide" Target="/ppt/notesSlides/notesSlide2.xml" Id="R370ba1f5a82a4e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039d03def4c80" /><Relationship Type="http://schemas.openxmlformats.org/officeDocument/2006/relationships/notesSlide" Target="/ppt/notesSlides/notesSlide3.xml" Id="R09c37b9574144c3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12121ccd7c462a" /><Relationship Type="http://schemas.openxmlformats.org/officeDocument/2006/relationships/notesSlide" Target="/ppt/notesSlides/notesSlide4.xml" Id="Rd9f64100985e47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e4f5fa44e4fab" /><Relationship Type="http://schemas.openxmlformats.org/officeDocument/2006/relationships/notesSlide" Target="/ppt/notesSlides/notesSlide5.xml" Id="R2a237840ca6d46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6877ae1fae4079" /><Relationship Type="http://schemas.openxmlformats.org/officeDocument/2006/relationships/notesSlide" Target="/ppt/notesSlides/notesSlide6.xml" Id="R53ce1ce6359648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3ce327c6bc4c2b" /><Relationship Type="http://schemas.openxmlformats.org/officeDocument/2006/relationships/notesSlide" Target="/ppt/notesSlides/notesSlide7.xml" Id="R24bca4ff20e440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4c21d38ba4ab1" /><Relationship Type="http://schemas.openxmlformats.org/officeDocument/2006/relationships/notesSlide" Target="/ppt/notesSlides/notesSlide8.xml" Id="Rc7f22683865e48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08637-E41A-455C-938F-EB3DF60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2000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6C218-E129-4AD5-B5E2-B84284A4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BugBori · SAST 과제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1D73E-CB6F-475B-9AA2-1149E421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8667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71717"/>
                </a:solidFill>
              </a:defRPr>
            </a:pPr>
            <a:r>
              <a:rPr sz="4650" b="1">
                <a:solidFill>
                  <a:srgbClr val="171717"/>
                </a:solidFill>
              </a:rPr>
              <a:t>BugBori</a:t>
            </a:r>
          </a:p>
          <a:p xmlns:a="http://schemas.openxmlformats.org/drawingml/2006/main">
            <a:pPr algn="l">
              <a:defRPr sz="4650" b="1">
                <a:solidFill>
                  <a:srgbClr val="171717"/>
                </a:solidFill>
              </a:defRPr>
            </a:pPr>
            <a:r>
              <a:rPr sz="4650" b="1">
                <a:solidFill>
                  <a:srgbClr val="171717"/>
                </a:solidFill>
              </a:rPr>
              <a:t>AI 기반 SAST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2F687-60AE-488B-B07F-62AEA77D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33750"/>
            <a:ext cx="695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6635D"/>
                </a:solidFill>
              </a:defRPr>
            </a:pPr>
            <a:r>
              <a:rPr sz="2400" b="0">
                <a:solidFill>
                  <a:srgbClr val="66635D"/>
                </a:solidFill>
              </a:rPr>
              <a:t>for Raspberry Pi UserLand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D6CD2-EC21-4CFD-A22B-4B91AB45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C114E-5D7D-4BBF-979B-CBF65D2E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33900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대규모 C/C++ 코드를 배치로 나누고, 후보 → 문맥 → 검증 → 보고서로 연결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21B7-BE7F-4022-AAFF-EFF5E6F0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314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F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4810F0-2466-46A7-8E1A-4AA3A242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654 files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62C706-E02B-4E9F-8C6D-9756A268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57850"/>
            <a:ext cx="1619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CFF4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ACF62E-8E32-4350-8F23-14A3186A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7150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235,816 lines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21C814-C83D-4C01-9875-D779C00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657850"/>
            <a:ext cx="1238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E3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7E8F1E-E0DC-4910-A9FD-614915BC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150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6 agents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982F1-1731-411F-A645-359AFA5D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76900"/>
            <a:ext cx="499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6635D"/>
                </a:solidFill>
              </a:defRPr>
            </a:pPr>
            <a:r>
              <a:rPr sz="1275" b="1">
                <a:solidFill>
                  <a:srgbClr val="66635D"/>
                </a:solidFill>
              </a:rPr>
              <a:t>모든 결과는 취약점 확정이 아닌 근거 기반 검토 결과</a:t>
            </a:r>
          </a:p>
        </p:txBody>
      </p:sp>
    </p:spTree>
    <p:extLst>
      <p:ext uri="{BB962C8B-B14F-4D97-AF65-F5344CB8AC3E}">
        <p14:creationId xmlns:p14="http://schemas.microsoft.com/office/powerpoint/2010/main" val="6823276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1A1C0E-E9E8-4ABC-A161-580B832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01 · 문제와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CD9F21-224C-4FEC-B215-7D66AE97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A194E-F1B6-4295-AA01-9BC495EB3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오래된 대규모 저장소를 어떻게 빠르고 믿을 만하게 볼 것인가?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B01C8-6C25-45DE-88A9-7DBB06CD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D8C75-AD73-464F-8A0B-61B8E050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361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235,816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D26D5-8CA9-4661-956F-C1B08378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62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35D"/>
                </a:solidFill>
              </a:defRPr>
            </a:pPr>
            <a:r>
              <a:rPr sz="1575" b="0">
                <a:solidFill>
                  <a:srgbClr val="66635D"/>
                </a:solidFill>
              </a:rPr>
              <a:t>줄의 C/C++ 코드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51BCC3-54D5-4ECD-B68E-A5345FF1B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19250"/>
            <a:ext cx="200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583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4F987D-5E62-4841-87BE-566570C4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35D"/>
                </a:solidFill>
              </a:defRPr>
            </a:pPr>
            <a:r>
              <a:rPr sz="1575" b="0">
                <a:solidFill>
                  <a:srgbClr val="66635D"/>
                </a:solidFill>
              </a:rPr>
              <a:t>초기 검토 후보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F0ADD3-A9A3-410F-B1C4-A9542D6F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192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71717"/>
                </a:solidFill>
              </a:defRPr>
            </a:pPr>
            <a:r>
              <a:rPr sz="4200" b="1">
                <a:solidFill>
                  <a:srgbClr val="171717"/>
                </a:solidFill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44D72-5202-4630-906A-9C5C6C8E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3622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635D"/>
                </a:solidFill>
              </a:defRPr>
            </a:pPr>
            <a:r>
              <a:rPr sz="1575" b="0">
                <a:solidFill>
                  <a:srgbClr val="66635D"/>
                </a:solidFill>
              </a:rPr>
              <a:t>우선 분석 사례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383378-A6BD-4812-AF6A-7E53A2E8A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EB22D-711D-4909-A7B8-6DBBAC34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단순 검색의 문제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313487-B891-46CA-88D9-C8B841EA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57625"/>
            <a:ext cx="4476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35D"/>
                </a:solidFill>
              </a:defRPr>
            </a:pPr>
            <a:r>
              <a:rPr sz="1500" b="0">
                <a:solidFill>
                  <a:srgbClr val="66635D"/>
                </a:solidFill>
              </a:rPr>
              <a:t>함수 이름이 있다는 사실만으로는 실제 취약점인지 알 수 없다.</a:t>
            </a:r>
          </a:p>
          <a:p xmlns:a="http://schemas.openxmlformats.org/drawingml/2006/main">
            <a:pPr algn="l">
              <a:defRPr sz="1500" b="0">
                <a:solidFill>
                  <a:srgbClr val="66635D"/>
                </a:solidFill>
              </a:defRPr>
            </a:pPr>
            <a:r>
              <a:rPr sz="1500" b="0">
                <a:solidFill>
                  <a:srgbClr val="66635D"/>
                </a:solidFill>
              </a:rPr>
              <a:t>중복·오탐·문맥 부족 때문에 사람이 모든 결과를 읽기 어렵다.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1302A-14E8-48C9-9174-0A87A7D0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29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이 과제의 목표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A25D5E-5417-4CC5-A1BC-3C73B4F6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57625"/>
            <a:ext cx="5048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635D"/>
                </a:solidFill>
              </a:defRPr>
            </a:pPr>
            <a:r>
              <a:rPr sz="1500" b="0">
                <a:solidFill>
                  <a:srgbClr val="66635D"/>
                </a:solidFill>
              </a:rPr>
              <a:t>대규모 코드를 안정적으로 나누고, 입력 경로와 안전장치를 근거로 확인한 뒤</a:t>
            </a:r>
          </a:p>
          <a:p xmlns:a="http://schemas.openxmlformats.org/drawingml/2006/main">
            <a:pPr algn="l">
              <a:defRPr sz="1500" b="0">
                <a:solidFill>
                  <a:srgbClr val="66635D"/>
                </a:solidFill>
              </a:defRPr>
            </a:pPr>
            <a:r>
              <a:rPr sz="1500" b="0">
                <a:solidFill>
                  <a:srgbClr val="66635D"/>
                </a:solidFill>
              </a:rPr>
              <a:t>'가능성 높음·낮음·정보 부족'으로 정직하게 구분한다.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F814FB-D4AE-4953-A3C4-40CBE6E3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4000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8F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AEE129-E28F-472B-AA16-FA9AD81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0070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핵심 원칙  위험 함수 ≠ 취약점 확정</a:t>
            </a:r>
          </a:p>
        </p:txBody>
      </p:sp>
    </p:spTree>
    <p:extLst>
      <p:ext uri="{BB962C8B-B14F-4D97-AF65-F5344CB8AC3E}">
        <p14:creationId xmlns:p14="http://schemas.microsoft.com/office/powerpoint/2010/main" val="3666119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C4C8FC-B472-488A-A95F-8DD5FB5E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02 · 전체 아키텍처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17CE2-E92A-46F2-9130-97F31B9E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0C0D2-3D20-4ACA-B9D4-E65BC39E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역할을 분리해 한 단계의 실수를 다음 단계가 다시 확인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F315E9-98C8-4789-BE22-33EE4BE2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17B0C2-F111-4651-A485-F8DEA8A8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495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31F26-FE12-4432-B010-CE70481C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00300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1B803-1D54-46F5-AEB1-BE4823D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495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DAC29-532B-47A4-A304-81CE67C8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00300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422EE-7736-4A28-853B-CB635395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95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688235-BD10-4239-B7C0-C3E915F59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B9FD14-8F2B-4834-9F52-B2511197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495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93963-E6AF-47A3-AA61-5A8D7700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0300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B9C1D-E644-4AF9-A9EC-59C3E070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95550"/>
            <a:ext cx="304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4C187-1FA3-403F-99C9-56A6E681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00300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A839D3-C126-4C2B-9362-0EB6491E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8F2B9-14D3-4064-8617-75A06CD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Scanner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B04A53-AB02-4BCE-845A-E54B69B3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위험 함수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후보 탐지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71E465-F88C-49F8-9E9E-474FA7127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F4DD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04E3F-A7D2-40AC-9200-FD420646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DD038-B630-47E9-BC9E-2C89DE2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함수·인자·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호출 관계 수집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36F902-B264-47B9-9A01-A84A52E7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39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7A747C-D3D5-4B4C-BD22-A3FF7A55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Triage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97184-BAA1-4483-A90A-6A8FEE4A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중복 통합·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우선순위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0DE634-8249-4503-87CA-762A00D9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5E0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D779E-8BBA-48AB-87A7-CAACD728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Security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819A26-93BB-402C-B0A7-1A7A0340E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입력 경로·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방어 로직 분석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761021-9F5B-4D78-8BC8-B968CCE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8FF5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B4F91D-64F2-4807-A09E-643E3F39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Verification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B0709E-99D4-4AAC-A178-0D1FA2D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경로·줄번호·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과장 여부 검증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8F60C5-8FC7-4EE8-BAFF-782277B2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952625"/>
            <a:ext cx="1476375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FA88695-021E-48E0-A4B6-A461138C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05025"/>
            <a:ext cx="12477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33FBA1-D7DA-4DE2-9A19-44DD90EA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57450"/>
            <a:ext cx="124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JSON·MD·HTML</a:t>
            </a:r>
          </a:p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결과 생성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A3A76E-E996-4912-AE4C-888A07C3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35D"/>
                </a:solidFill>
              </a:defRPr>
            </a:pPr>
            <a:r>
              <a:rPr sz="1275" b="1">
                <a:solidFill>
                  <a:srgbClr val="66635D"/>
                </a:solidFill>
              </a:rPr>
              <a:t>입력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6075A7-1F1C-4C89-9386-57AB783A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62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target/userland + config/rules.json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7830568-2032-43CF-8532-709F0FC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29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635D"/>
                </a:solidFill>
              </a:defRPr>
            </a:pPr>
            <a:r>
              <a:rPr sz="1275" b="1">
                <a:solidFill>
                  <a:srgbClr val="66635D"/>
                </a:solidFill>
              </a:rPr>
              <a:t>출력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26D64-8ACC-4AD7-81E0-11EA0335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762375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candidates → context bundles → analysis → reports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F0EA1A1-C6D3-4066-B667-7E40F16F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B2E7B24-A355-4E8E-AD0F-E18F090E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48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AI API 미설정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2B31FE-2A27-401C-8200-459B76E5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876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프롬프트·기대 JSON 스키마·실행 로그를 남기고, 기존 검토 데이터는 human_provided_review로 구분</a:t>
            </a:r>
          </a:p>
        </p:txBody>
      </p:sp>
    </p:spTree>
    <p:extLst>
      <p:ext uri="{BB962C8B-B14F-4D97-AF65-F5344CB8AC3E}">
        <p14:creationId xmlns:p14="http://schemas.microsoft.com/office/powerpoint/2010/main" val="13561405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278E66-B59F-49C8-AC96-61594D9F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03 · 대규모 코드 분할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77A97-8E59-4B4E-84F3-C54439B5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FF1CFC-AA2A-4190-8271-03AA3713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세 배치로 균등하게 나누되 후보는 빠짐없이 유지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4A5D4-093D-432E-99F8-008F5279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82507-5A60-460C-A53D-ECD6B8A95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28575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8F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D2AEAC-C82B-459B-8652-B9FC080D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전체 후보와 일치  583 = 583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7E036-59AF-445D-A96B-435D9E919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15006"/>
            <a:ext cx="2095500" cy="2618994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42B6C-7458-4A73-92D4-AC0F28D7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86456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BATCH-001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A3952-DE31-4ECC-BEBB-61C41D58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81756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78,749줄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3313B-B66B-45CE-A19A-40806FE5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481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D"/>
                </a:solidFill>
              </a:defRPr>
            </a:pPr>
            <a:r>
              <a:rPr sz="1350" b="0">
                <a:solidFill>
                  <a:srgbClr val="66635D"/>
                </a:solidFill>
              </a:rPr>
              <a:t>209개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4FF240-CD4F-4BDA-AEF5-CA56080A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277106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536BF5-3EB6-4174-8E6B-C526CAE2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4256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후보 378개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169B1F-2ECC-4056-A92A-5258B72E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67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35D"/>
                </a:solidFill>
              </a:defRPr>
            </a:pPr>
            <a:r>
              <a:rPr sz="1200" b="0">
                <a:solidFill>
                  <a:srgbClr val="66635D"/>
                </a:solidFill>
              </a:rPr>
              <a:t>0.756초 · 오류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D8AD5-34F2-4838-8902-C2FCF7B89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9880"/>
            <a:ext cx="2095500" cy="248412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CFF4DD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1D7C0E-03A7-4B88-866A-F15B0526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021330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BATCH-002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A43506-7075-4F0A-9FAB-369B7CE2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516630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78,395줄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990DC-F66F-468A-9E8F-B76A0DD9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3983355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D"/>
                </a:solidFill>
              </a:defRPr>
            </a:pPr>
            <a:r>
              <a:rPr sz="1350" b="0">
                <a:solidFill>
                  <a:srgbClr val="66635D"/>
                </a:solidFill>
              </a:rPr>
              <a:t>177개 파일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FBB30-5C89-4EA7-B20C-339ED319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11980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7DD1E-B0DA-451C-BE19-EC57F599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6913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후보 101개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2DD80A-1BC2-4D96-A9A5-7C77DFC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5467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35D"/>
                </a:solidFill>
              </a:defRPr>
            </a:pPr>
            <a:r>
              <a:rPr sz="1200" b="0">
                <a:solidFill>
                  <a:srgbClr val="66635D"/>
                </a:solidFill>
              </a:rPr>
              <a:t>0.553초 · 오류 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DC600-5C32-4FDB-AB47-4015D9BA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4343"/>
            <a:ext cx="2095500" cy="2589657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E39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500E0-B2FD-4B74-B569-61F5252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5793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BATCH-003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90CC3-ECE5-45B9-994F-7168FDBD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11093"/>
            <a:ext cx="1866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1717"/>
                </a:solidFill>
              </a:defRPr>
            </a:pPr>
            <a:r>
              <a:rPr sz="2025" b="1">
                <a:solidFill>
                  <a:srgbClr val="171717"/>
                </a:solidFill>
              </a:rPr>
              <a:t>78,672줄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843B91-3A28-4035-A9E4-23C03106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77818"/>
            <a:ext cx="1866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635D"/>
                </a:solidFill>
              </a:defRPr>
            </a:pPr>
            <a:r>
              <a:rPr sz="1350" b="0">
                <a:solidFill>
                  <a:srgbClr val="66635D"/>
                </a:solidFill>
              </a:rPr>
              <a:t>268개 파일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8659CF-0CA4-44ED-A618-994B59FC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06443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4FF1D9-FB7A-4CB5-8E6E-D61867F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63593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후보 104개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2497E-FB00-4E99-8805-75DBDA4E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4673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35D"/>
                </a:solidFill>
              </a:defRPr>
            </a:pPr>
            <a:r>
              <a:rPr sz="1200" b="0">
                <a:solidFill>
                  <a:srgbClr val="66635D"/>
                </a:solidFill>
              </a:rPr>
              <a:t>0.554초 · 오류 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A22F95-C5E1-45F6-ABC4-D3CAC4DA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코드 줄 수 기준으로 균형 분할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699447-FAF9-43DA-9005-4DF17BA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626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후보 분포는 코드 성격에 따라 달라짐</a:t>
            </a:r>
          </a:p>
        </p:txBody>
      </p:sp>
    </p:spTree>
    <p:extLst>
      <p:ext uri="{BB962C8B-B14F-4D97-AF65-F5344CB8AC3E}">
        <p14:creationId xmlns:p14="http://schemas.microsoft.com/office/powerpoint/2010/main" val="22409563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9FDA5-CFDC-47C9-96B5-7E0D219A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04 · 토큰 절약 전략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1A8788-4506-4150-936D-6A771A66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03F46-A08C-4298-A8BD-C6046575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전체 코드를 보내지 않고 판단에 가까운 근거부터 수집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F2346-BEA2-4D9F-989E-D469716C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10F5CF-204B-404F-86FB-BFAEE1FE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525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AECBA-9899-45C8-A314-FBC5333D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335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후보 우선순위화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FAD5B-1B76-40E9-AFB2-84486646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525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위험도와 근거가 높은 후보부터 분석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D837C-8FDF-4110-862E-2D9EB506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BDF73-F77C-42CC-8FF4-C885870C1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907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6B8AF-6DB4-4AF5-8AA9-34A03283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717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함수 문맥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AF5A5-9957-40F7-8C20-79FB8FC7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907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후보 함수 140줄 · 묶음 최대 220줄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5CDA25-CE8F-434A-883E-2FD941FB5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670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BB43A-6C8D-47B2-836A-32CABC88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28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DC8B3C-F4DC-49B2-848D-CAD12E60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99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호출 관계 제한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0A3402-0C40-4728-9B91-DC3762CA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289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호출자 2개 · 피호출자 3개 코드 우선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86E15D-7787-4E0B-82EA-2B8DD38B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052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989C6-60FD-42B5-B64F-CA72D981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671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1A2021-C43A-4C74-A4B7-A66F1E3F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중복 제거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90AAFB-ED82-4F25-BCA9-DB2ABEB8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671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같은 원인의 후보를 한 분석 사례로 통합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448457-8283-40DC-89F3-BCCEB113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434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F3E43E-90FF-4809-92D5-63BC2F67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053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9F669-6923-4840-941A-267A5C8D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863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1717"/>
                </a:solidFill>
              </a:defRPr>
            </a:pPr>
            <a:r>
              <a:rPr sz="1725" b="1">
                <a:solidFill>
                  <a:srgbClr val="171717"/>
                </a:solidFill>
              </a:rPr>
              <a:t>필요할 때만 확장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D16493-236D-4CB3-9009-5BB3EE51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부족한 함수·매크로만 추가 문맥 수집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FA4FF5-1AB8-484C-96B7-305AE0D8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A90775-211E-410D-BA93-64706E0A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2001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E942E6-D629-41DB-B9E3-642FA98C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10275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절약의 기준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CFA174-3838-4B1E-B9C6-6799261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626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1717"/>
                </a:solidFill>
              </a:defRPr>
            </a:pPr>
            <a:r>
              <a:rPr sz="1350" b="1">
                <a:solidFill>
                  <a:srgbClr val="171717"/>
                </a:solidFill>
              </a:rPr>
              <a:t>가까운 근거를 먼저 보되, 부족하면 추가 수집하고 끝까지 모르면 ‘정보 부족’으로 남긴다.</a:t>
            </a:r>
          </a:p>
        </p:txBody>
      </p:sp>
    </p:spTree>
    <p:extLst>
      <p:ext uri="{BB962C8B-B14F-4D97-AF65-F5344CB8AC3E}">
        <p14:creationId xmlns:p14="http://schemas.microsoft.com/office/powerpoint/2010/main" val="6528650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3C961C-7B4C-4A56-B17C-77425A0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05 · 실제 분석 사례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D1E6A-1150-4D70-A891-BA169977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035EE-90FF-4579-B9D4-B3519B21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AN-010 · CLI 입력이 256바이트 배열의 strcpy까지 도달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B00CDB-6214-4CBF-BD5E-412690AC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38DF5-6A13-4E87-9FBB-2B2F9DD7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3714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E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BDCB1-95E0-45C7-B81D-2EA4E0EF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95425"/>
            <a:ext cx="3524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5D4A"/>
                </a:solidFill>
              </a:defRPr>
            </a:pPr>
            <a:r>
              <a:rPr sz="1050" b="1">
                <a:solidFill>
                  <a:srgbClr val="E85D4A"/>
                </a:solidFill>
              </a:rPr>
              <a:t>검토 결과: 취약 가능성 높음 · 신뢰도 97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929647-E6EE-434C-91E0-8231A742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38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A61EE-42BE-4C9D-9A21-47E4539B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5431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611742-F4CF-4393-8A3E-6901DBB1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638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B77A7-B8E7-4267-A80D-081D0C18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431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19D71-ED41-4350-88CE-61CDCAA7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638425"/>
            <a:ext cx="419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CD460-27F6-4772-A0F8-8DF1E39E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43175"/>
            <a:ext cx="171450" cy="2286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F166A-7A30-4BBC-B7F6-ABE41646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12001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E4FF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E1DEC-737B-425F-B3A9-A2863AC6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955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CLI 입력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E07E3-0A71-4A49-A5AA-711161E4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47950"/>
            <a:ext cx="971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arg / argv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BB930-4870-43D5-AB9B-B79F049A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43125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FF4DD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540A2-5B3E-4E01-BE2E-C1EA7505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9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param_val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11E35-0F24-4B04-B8C4-3DD74082A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'=' 뒤 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DEA61-C9CC-4FF1-8953-462670AE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143125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39B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127E2-F19E-483C-8AB4-A0948BCE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9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값 적용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943024-AD28-4239-AAAD-55B0D6BE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479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apply_override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AF5B0-26BD-4B64-88E0-AD6C21DF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43125"/>
            <a:ext cx="150495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E5E0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AF0DD9-06D8-47C8-91D8-68308766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955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strcpy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C90344-0143-4EA5-AA6B-F2CDD470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6635D"/>
                </a:solidFill>
              </a:defRPr>
            </a:pPr>
            <a:r>
              <a:rPr sz="975" b="0">
                <a:solidFill>
                  <a:srgbClr val="66635D"/>
                </a:solidFill>
              </a:rPr>
              <a:t>target_value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5A94E8-B8FD-4172-9820-80B40D4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52600"/>
            <a:ext cx="367665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7D029-C8BA-4152-A589-2C61A4C6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526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FF57"/>
                </a:solidFill>
              </a:defRPr>
            </a:pPr>
            <a:r>
              <a:rPr sz="1200" b="1">
                <a:solidFill>
                  <a:srgbClr val="D8FF57"/>
                </a:solidFill>
              </a:rPr>
              <a:t>dtoverlay.c:1852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148FB8-6DDB-4CA4-8F39-9548B0A0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764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static char target_value[256];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147CE-956C-4745-B520-72BBBFC3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FF57"/>
                </a:solidFill>
              </a:defRPr>
            </a:pPr>
            <a:r>
              <a:rPr sz="1200" b="1">
                <a:solidFill>
                  <a:srgbClr val="D8FF57"/>
                </a:solidFill>
              </a:rPr>
              <a:t>dtoverlay.c:1859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5B1203-CFC8-439F-850E-A51E7348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051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strcpy(target_value, override_value);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D83072-B69E-4E51-8D09-F596134E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81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확인된 근거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CF2F79-D5C0-4935-82F8-908F375B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819650"/>
            <a:ext cx="5619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dtoverlay_main.c:416–448에서 명령행 값 추출·전달</a:t>
            </a:r>
          </a:p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dtmerge.c:165–185에서도 argv 값이 같은 경로로 전달</a:t>
            </a:r>
          </a:p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복사 전 255자 제한 검사는 확인되지 않음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E9046-5171-40AB-87FA-ABAEAF7F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8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아직 확인하지 못한 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16F832-5D91-42E0-B4C5-128AB3DEC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19650"/>
            <a:ext cx="4667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동적 재현 · 실제 공격 성공 · 실행 권한·배포 조건</a:t>
            </a:r>
          </a:p>
          <a:p xmlns:a="http://schemas.openxmlformats.org/drawingml/2006/main">
            <a:pPr algn="l">
              <a:defRPr sz="1425" b="0">
                <a:solidFill>
                  <a:srgbClr val="66635D"/>
                </a:solidFill>
              </a:defRPr>
            </a:pPr>
            <a:r>
              <a:rPr sz="1425" b="0">
                <a:solidFill>
                  <a:srgbClr val="66635D"/>
                </a:solidFill>
              </a:rPr>
              <a:t>따라서 ‘취약점 확정’이 아니라 코드상 가능성으로 보고</a:t>
            </a:r>
          </a:p>
        </p:txBody>
      </p:sp>
    </p:spTree>
    <p:extLst>
      <p:ext uri="{BB962C8B-B14F-4D97-AF65-F5344CB8AC3E}">
        <p14:creationId xmlns:p14="http://schemas.microsoft.com/office/powerpoint/2010/main" val="1359579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C7CCB9-1308-4EFE-9029-A5D0959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06 · 차별점과 신뢰성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72E91-E1C1-4F3B-B436-33EDFF0B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598B1-FE5C-4346-B88B-5ACCF674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위험 함수 탐지에서 멈추지 않고 근거와 반대 근거까지 기록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8A3CF1-0E25-45C1-824F-F5D46C05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71761-F439-44BC-8160-582D7D1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57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6635D"/>
                </a:solidFill>
              </a:defRPr>
            </a:pPr>
            <a:r>
              <a:rPr sz="1800" b="1">
                <a:solidFill>
                  <a:srgbClr val="66635D"/>
                </a:solidFill>
              </a:rPr>
              <a:t>단순 grep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317ED8-B0CA-4FF1-AB20-23DF929B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0955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635D"/>
                </a:solidFill>
              </a:defRPr>
            </a:pPr>
            <a:r>
              <a:rPr sz="1650" b="0">
                <a:solidFill>
                  <a:srgbClr val="66635D"/>
                </a:solidFill>
              </a:rPr>
              <a:t>함수 이름 발견</a:t>
            </a:r>
          </a:p>
          <a:p xmlns:a="http://schemas.openxmlformats.org/drawingml/2006/main">
            <a:pPr algn="l">
              <a:defRPr sz="1650" b="0">
                <a:solidFill>
                  <a:srgbClr val="66635D"/>
                </a:solidFill>
              </a:defRPr>
            </a:pPr>
            <a:r>
              <a:rPr sz="1650" b="0">
                <a:solidFill>
                  <a:srgbClr val="66635D"/>
                </a:solidFill>
              </a:rPr>
              <a:t>→ 곧바로 위험 취급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FB0BF6-5E92-4AD0-9F64-1FA75405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573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이 워크플로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6C3DC-57E9-4F7C-8409-34AE8954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3810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후보 → 문맥 → 중복 통합</a:t>
            </a:r>
          </a:p>
          <a:p xmlns:a="http://schemas.openxmlformats.org/drawingml/2006/main">
            <a:pPr algn="l">
              <a:defRPr sz="1650" b="1">
                <a:solidFill>
                  <a:srgbClr val="171717"/>
                </a:solidFill>
              </a:defRPr>
            </a:pPr>
            <a:r>
              <a:rPr sz="1650" b="1">
                <a:solidFill>
                  <a:srgbClr val="171717"/>
                </a:solidFill>
              </a:rPr>
              <a:t>→ 근거 분석 → 독립 검증 → 보고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75ED1A-CE8D-45BE-8A24-74BD6F84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57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신뢰성 장치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0A0566-D67F-4798-852E-7E0E01BD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571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경로·줄번호 대조</a:t>
            </a:r>
          </a:p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정보 부족 명시</a:t>
            </a:r>
          </a:p>
          <a:p xmlns:a="http://schemas.openxmlformats.org/drawingml/2006/main">
            <a:pPr algn="l">
              <a:defRPr sz="1650" b="0">
                <a:solidFill>
                  <a:srgbClr val="171717"/>
                </a:solidFill>
              </a:defRPr>
            </a:pPr>
            <a:r>
              <a:rPr sz="1650" b="0">
                <a:solidFill>
                  <a:srgbClr val="171717"/>
                </a:solidFill>
              </a:rPr>
              <a:t>사람 검토 데이터 구분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50D215-6DA8-4A63-A495-6707440E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71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C7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B31C4-57BB-4FBD-8C87-9AF2E00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829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62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0E08F-09AC-4454-95B6-2F1F4004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검증된 인용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16C8E-F82A-4281-8AF5-DD4BEAEE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29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D74293-0F22-4CDD-9419-61F58DB6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가능성 낮음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99DB5-3DEC-457C-BB15-194768EAF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1717"/>
                </a:solidFill>
              </a:defRPr>
            </a:pPr>
            <a:r>
              <a:rPr sz="3750" b="1">
                <a:solidFill>
                  <a:srgbClr val="171717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45B22-8D53-4F05-AB0F-204A9C05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정보 부족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B86AD7-EA16-46A8-8E43-3645DECB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290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E85D4A"/>
                </a:solidFill>
              </a:defRPr>
            </a:pPr>
            <a:r>
              <a:rPr sz="3750" b="1">
                <a:solidFill>
                  <a:srgbClr val="E85D4A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4DA14-7BEA-435D-8188-EFB5ADE9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720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가능성 높음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4024A-417C-4FF0-8F52-5A2D39B0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220980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021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738025-016D-4106-B3FD-01E95C7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human_provided_review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DE6D67-771D-4F43-A220-DA94750D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0225"/>
            <a:ext cx="733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1717"/>
                </a:solidFill>
              </a:defRPr>
            </a:pPr>
            <a:r>
              <a:rPr sz="1425" b="1">
                <a:solidFill>
                  <a:srgbClr val="171717"/>
                </a:solidFill>
              </a:rPr>
              <a:t>외부 LLM API 미사용 · 자동 AI 분석처럼 표시하지 않음</a:t>
            </a:r>
          </a:p>
        </p:txBody>
      </p:sp>
    </p:spTree>
    <p:extLst>
      <p:ext uri="{BB962C8B-B14F-4D97-AF65-F5344CB8AC3E}">
        <p14:creationId xmlns:p14="http://schemas.microsoft.com/office/powerpoint/2010/main" val="20908139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83677D-38FD-48B5-8AF0-902E1890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07 · 한계와 결론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252D2-86F7-4F82-B05E-DA5FCD77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66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35D"/>
                </a:solidFill>
              </a:defRPr>
            </a:pPr>
            <a:r>
              <a:rPr sz="975" b="1">
                <a:solidFill>
                  <a:srgbClr val="66635D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CB5AC-024B-428D-8230-FF9447F9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1717"/>
                </a:solidFill>
              </a:defRPr>
            </a:pPr>
            <a:r>
              <a:rPr sz="2775" b="1">
                <a:solidFill>
                  <a:srgbClr val="171717"/>
                </a:solidFill>
              </a:rPr>
              <a:t>빠른 선별은 완료 — 다음은 실제 재현과 파서 정확도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ADA866-AAC3-4F50-BFAE-F3456D23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4706D-30C0-4734-970C-841248C3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현재 결론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4025-C406-43E3-9C67-69531FA3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71675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대규모 코드도 배치와 역할 분담으로</a:t>
            </a:r>
          </a:p>
          <a:p xmlns:a="http://schemas.openxmlformats.org/drawingml/2006/main">
            <a:pPr algn="l">
              <a:defRPr sz="2550" b="1">
                <a:solidFill>
                  <a:srgbClr val="171717"/>
                </a:solidFill>
              </a:defRPr>
            </a:pPr>
            <a:r>
              <a:rPr sz="2550" b="1">
                <a:solidFill>
                  <a:srgbClr val="171717"/>
                </a:solidFill>
              </a:rPr>
              <a:t>검토 가능한 근거 묶음으로 줄일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E222CA-9E42-415E-BF64-0AE23B78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3812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FFE5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F6E54B-72DE-4962-9D17-2483F715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383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85D4A"/>
                </a:solidFill>
              </a:defRPr>
            </a:pPr>
            <a:r>
              <a:rPr sz="1050" b="1">
                <a:solidFill>
                  <a:srgbClr val="E85D4A"/>
                </a:solidFill>
              </a:rPr>
              <a:t>취약점 확정 아님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93259-2793-40F8-A8C5-F207691D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5D647-09C4-47CE-A91E-1BB528BC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한계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15F24-EABB-4352-84DA-3C2009F1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719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정규식 기반 호출 관계</a:t>
            </a:r>
          </a:p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매크로·함수 포인터 해석 한계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0722EE-C57E-4CA2-88B5-B79FD289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다음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44FD8A-ED09-458C-A580-3FC962E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AN-010 최소 재현 테스트</a:t>
            </a:r>
          </a:p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ASan/UBSan 증거 수집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A4B6ED-D9E5-4872-B562-E3D3E0ED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43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635D"/>
                </a:solidFill>
              </a:defRPr>
            </a:pPr>
            <a:r>
              <a:rPr sz="1350" b="1">
                <a:solidFill>
                  <a:srgbClr val="66635D"/>
                </a:solidFill>
              </a:rPr>
              <a:t>다음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4DB9E-88BE-4217-8766-8E483382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719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AN-007의 libfdt 문자열 종료·</a:t>
            </a:r>
          </a:p>
          <a:p xmlns:a="http://schemas.openxmlformats.org/drawingml/2006/main">
            <a:pPr algn="l">
              <a:defRPr sz="1575" b="1">
                <a:solidFill>
                  <a:srgbClr val="171717"/>
                </a:solidFill>
              </a:defRPr>
            </a:pPr>
            <a:r>
              <a:rPr sz="1575" b="1">
                <a:solidFill>
                  <a:srgbClr val="171717"/>
                </a:solidFill>
              </a:rPr>
              <a:t>DTB 검증 경로 추가 조사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ADAC2-E513-42EA-9447-DBAA8906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3144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D8FF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E18DBB-6006-4068-8C7E-2ABB72F6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76900"/>
            <a:ext cx="112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1717"/>
                </a:solidFill>
              </a:defRPr>
            </a:pPr>
            <a:r>
              <a:rPr sz="1050" b="1">
                <a:solidFill>
                  <a:srgbClr val="171717"/>
                </a:solidFill>
              </a:rPr>
              <a:t>최종 메시지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5D046E-D9C4-4DD0-887C-385294A99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600700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1717"/>
                </a:solidFill>
              </a:defRPr>
            </a:pPr>
            <a:r>
              <a:rPr sz="1800" b="1">
                <a:solidFill>
                  <a:srgbClr val="171717"/>
                </a:solidFill>
              </a:rPr>
              <a:t>찾는 속도는 AI로, 믿을 수 있는 결론은 근거와 검증으로</a:t>
            </a:r>
          </a:p>
        </p:txBody>
      </p:sp>
    </p:spTree>
    <p:extLst>
      <p:ext uri="{BB962C8B-B14F-4D97-AF65-F5344CB8AC3E}">
        <p14:creationId xmlns:p14="http://schemas.microsoft.com/office/powerpoint/2010/main" val="9199350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2026-08-12T15:16:48.4760000Z</dcterms:created>
  <dcterms:modified xsi:type="dcterms:W3CDTF">2026-08-12T15:16:48.4760000Z</dcterms:modified>
</coreProperties>
</file>