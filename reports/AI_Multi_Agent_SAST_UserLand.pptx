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bb50b4e7054f9d" /><Relationship Type="http://schemas.openxmlformats.org/officeDocument/2006/relationships/extended-properties" Target="/docProps/app.xml" Id="R7d3f40d8fb0c4566" /><Relationship Type="http://schemas.openxmlformats.org/officeDocument/2006/relationships/officeDocument" Target="/ppt/presentation.xml" Id="R5f6d6876666149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cead58107e48b3"/>
  </p:sldMasterIdLst>
  <p:notesMasterIdLst>
    <p:notesMasterId xmlns:r="http://schemas.openxmlformats.org/officeDocument/2006/relationships" r:id="R10cd4eb7ddd14f37"/>
  </p:notesMasterIdLst>
  <p:sldIdLst>
    <p:sldId xmlns:r="http://schemas.openxmlformats.org/officeDocument/2006/relationships" id="256" r:id="R8c63bc38717b4f6c"/>
    <p:sldId xmlns:r="http://schemas.openxmlformats.org/officeDocument/2006/relationships" id="257" r:id="Ra616d5f50cab4105"/>
    <p:sldId xmlns:r="http://schemas.openxmlformats.org/officeDocument/2006/relationships" id="258" r:id="R7ee3fb1e6bd54b0e"/>
    <p:sldId xmlns:r="http://schemas.openxmlformats.org/officeDocument/2006/relationships" id="259" r:id="Rd63ac5f8f8124aa9"/>
    <p:sldId xmlns:r="http://schemas.openxmlformats.org/officeDocument/2006/relationships" id="260" r:id="R59b21c91777a45b1"/>
    <p:sldId xmlns:r="http://schemas.openxmlformats.org/officeDocument/2006/relationships" id="261" r:id="R4c99d004bbcc41df"/>
    <p:sldId xmlns:r="http://schemas.openxmlformats.org/officeDocument/2006/relationships" id="262" r:id="Rb16b43e309714ce3"/>
    <p:sldId xmlns:r="http://schemas.openxmlformats.org/officeDocument/2006/relationships" id="263" r:id="R325187944d184dd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b09ab049514d19" /><Relationship Type="http://schemas.openxmlformats.org/officeDocument/2006/relationships/slideMaster" Target="/ppt/slideMasters/slideMaster1.xml" Id="R5acead58107e48b3" /><Relationship Type="http://schemas.openxmlformats.org/officeDocument/2006/relationships/notesMaster" Target="/ppt/notesMasters/notesMaster1.xml" Id="R10cd4eb7ddd14f37" /><Relationship Type="http://schemas.openxmlformats.org/officeDocument/2006/relationships/presProps" Target="/ppt/presProps.xml" Id="R9a3d34b7ee474ae8" /><Relationship Type="http://schemas.openxmlformats.org/officeDocument/2006/relationships/tableStyles" Target="/ppt/tableStyles.xml" Id="R8335095aaca74b61" /><Relationship Type="http://schemas.openxmlformats.org/officeDocument/2006/relationships/slide" Target="/ppt/slides/slide1.xml" Id="R8c63bc38717b4f6c" /><Relationship Type="http://schemas.openxmlformats.org/officeDocument/2006/relationships/slide" Target="/ppt/slides/slide2.xml" Id="Ra616d5f50cab4105" /><Relationship Type="http://schemas.openxmlformats.org/officeDocument/2006/relationships/slide" Target="/ppt/slides/slide3.xml" Id="R7ee3fb1e6bd54b0e" /><Relationship Type="http://schemas.openxmlformats.org/officeDocument/2006/relationships/slide" Target="/ppt/slides/slide4.xml" Id="Rd63ac5f8f8124aa9" /><Relationship Type="http://schemas.openxmlformats.org/officeDocument/2006/relationships/slide" Target="/ppt/slides/slide5.xml" Id="R59b21c91777a45b1" /><Relationship Type="http://schemas.openxmlformats.org/officeDocument/2006/relationships/slide" Target="/ppt/slides/slide6.xml" Id="R4c99d004bbcc41df" /><Relationship Type="http://schemas.openxmlformats.org/officeDocument/2006/relationships/slide" Target="/ppt/slides/slide7.xml" Id="Rb16b43e309714ce3" /><Relationship Type="http://schemas.openxmlformats.org/officeDocument/2006/relationships/slide" Target="/ppt/slides/slide8.xml" Id="R325187944d184d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a72da391c94a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ef1d1344d64cae" /><Relationship Type="http://schemas.openxmlformats.org/officeDocument/2006/relationships/notesMaster" Target="/ppt/notesMasters/notesMaster1.xml" Id="R3c8be79aaa464c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3c1ff3b21c4f8b" /><Relationship Type="http://schemas.openxmlformats.org/officeDocument/2006/relationships/notesMaster" Target="/ppt/notesMasters/notesMaster1.xml" Id="R05a507043c5b4b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d4cdc6345d46d1" /><Relationship Type="http://schemas.openxmlformats.org/officeDocument/2006/relationships/notesMaster" Target="/ppt/notesMasters/notesMaster1.xml" Id="R9974befee1ba4e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759737276d4ab1" /><Relationship Type="http://schemas.openxmlformats.org/officeDocument/2006/relationships/notesMaster" Target="/ppt/notesMasters/notesMaster1.xml" Id="Ra80ebd5230894d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fed77807424512" /><Relationship Type="http://schemas.openxmlformats.org/officeDocument/2006/relationships/notesMaster" Target="/ppt/notesMasters/notesMaster1.xml" Id="R581588b4fb7c44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dd88ed3cd846cc" /><Relationship Type="http://schemas.openxmlformats.org/officeDocument/2006/relationships/notesMaster" Target="/ppt/notesMasters/notesMaster1.xml" Id="R67229af78c7f48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72bbe1ccb24e61" /><Relationship Type="http://schemas.openxmlformats.org/officeDocument/2006/relationships/notesMaster" Target="/ppt/notesMasters/notesMaster1.xml" Id="R87b93018021140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a6ad1012804f6a" /><Relationship Type="http://schemas.openxmlformats.org/officeDocument/2006/relationships/notesMaster" Target="/ppt/notesMasters/notesMaster1.xml" Id="R727b2fa6851242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083f7414644d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36382f9d364999" /><Relationship Type="http://schemas.openxmlformats.org/officeDocument/2006/relationships/slideLayout" Target="/ppt/slideLayouts/slideLayout1.xml" Id="Reecf3968bc034e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cf3968bc034e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23d0c4948c45fb" /><Relationship Type="http://schemas.openxmlformats.org/officeDocument/2006/relationships/notesSlide" Target="/ppt/notesSlides/notesSlide1.xml" Id="Rf5928566bdcb4e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e1502d49d4137" /><Relationship Type="http://schemas.openxmlformats.org/officeDocument/2006/relationships/notesSlide" Target="/ppt/notesSlides/notesSlide2.xml" Id="Rd655867da35d48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565e86b2b4a86" /><Relationship Type="http://schemas.openxmlformats.org/officeDocument/2006/relationships/notesSlide" Target="/ppt/notesSlides/notesSlide3.xml" Id="Rbcb69e5ae3d841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6c3c0deb4f4fd5" /><Relationship Type="http://schemas.openxmlformats.org/officeDocument/2006/relationships/notesSlide" Target="/ppt/notesSlides/notesSlide4.xml" Id="R5fc13f5decf442f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cc0c1f37344122" /><Relationship Type="http://schemas.openxmlformats.org/officeDocument/2006/relationships/notesSlide" Target="/ppt/notesSlides/notesSlide5.xml" Id="Rd412736408e446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7a747d3d043bb" /><Relationship Type="http://schemas.openxmlformats.org/officeDocument/2006/relationships/notesSlide" Target="/ppt/notesSlides/notesSlide6.xml" Id="Redccee68ea6a48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9ecb42f19442f5" /><Relationship Type="http://schemas.openxmlformats.org/officeDocument/2006/relationships/notesSlide" Target="/ppt/notesSlides/notesSlide7.xml" Id="R8317a4ff3fee49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a6fbf45e44334" /><Relationship Type="http://schemas.openxmlformats.org/officeDocument/2006/relationships/notesSlide" Target="/ppt/notesSlides/notesSlide8.xml" Id="R35c69571ac1c478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65FA53-4E8E-4B18-A1E0-E9D9FC12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000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2021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978FD-6341-4A68-BF8C-3C673B53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SAST 과제 · 제출용 발표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BD9329-E7E4-4DF3-BAC1-289C61E1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866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1717"/>
                </a:solidFill>
              </a:defRPr>
            </a:pPr>
            <a:r>
              <a:rPr sz="4650" b="1">
                <a:solidFill>
                  <a:srgbClr val="171717"/>
                </a:solidFill>
              </a:rPr>
              <a:t>AI 기반</a:t>
            </a:r>
          </a:p>
          <a:p xmlns:a="http://schemas.openxmlformats.org/drawingml/2006/main">
            <a:pPr algn="l">
              <a:defRPr sz="4650" b="1">
                <a:solidFill>
                  <a:srgbClr val="171717"/>
                </a:solidFill>
              </a:defRPr>
            </a:pPr>
            <a:r>
              <a:rPr sz="4650" b="1">
                <a:solidFill>
                  <a:srgbClr val="171717"/>
                </a:solidFill>
              </a:rPr>
              <a:t>Multi-Agent SAST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9025B-9801-4A1D-A2A0-41A4A2F3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33750"/>
            <a:ext cx="695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66635D"/>
                </a:solidFill>
              </a:defRPr>
            </a:pPr>
            <a:r>
              <a:rPr sz="2400" b="0">
                <a:solidFill>
                  <a:srgbClr val="66635D"/>
                </a:solidFill>
              </a:rPr>
              <a:t>for Raspberry Pi UserLand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EE7C6-F776-49BF-A2DA-62DE8E7F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672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23667C-16FD-4931-8D49-4A654FC7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33900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1717"/>
                </a:solidFill>
              </a:defRPr>
            </a:pPr>
            <a:r>
              <a:rPr sz="1650" b="0">
                <a:solidFill>
                  <a:srgbClr val="171717"/>
                </a:solidFill>
              </a:rPr>
              <a:t>대규모 C/C++ 코드를 배치로 나누고, 후보 → 문맥 → 검증 → 보고서로 연결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4B2D68-3D86-4DE6-8C7A-1C4B3758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3144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CFE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BABB04-ACFD-4ED2-97C2-77D6538F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12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</a:defRPr>
            </a:pPr>
            <a:r>
              <a:rPr sz="1050" b="1">
                <a:solidFill>
                  <a:srgbClr val="171717"/>
                </a:solidFill>
              </a:rPr>
              <a:t>654 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A32B25-1637-4F3B-8C1B-5BFFA478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657850"/>
            <a:ext cx="1619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CFF4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60AA26-2B80-466B-9BC0-8A217F6F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7150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</a:defRPr>
            </a:pPr>
            <a:r>
              <a:rPr sz="1050" b="1">
                <a:solidFill>
                  <a:srgbClr val="171717"/>
                </a:solidFill>
              </a:rPr>
              <a:t>235,816 lines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103B08-BD62-4D85-82E7-2E37EEE2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657850"/>
            <a:ext cx="1238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E3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9F7C13-7E3D-4DCF-ACF2-A89EC548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7150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</a:defRPr>
            </a:pPr>
            <a:r>
              <a:rPr sz="1050" b="1">
                <a:solidFill>
                  <a:srgbClr val="171717"/>
                </a:solidFill>
              </a:rPr>
              <a:t>6 agents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318CAB-BECC-4CF1-90F4-2C0DB3BB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676900"/>
            <a:ext cx="499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66635D"/>
                </a:solidFill>
              </a:defRPr>
            </a:pPr>
            <a:r>
              <a:rPr sz="1275" b="1">
                <a:solidFill>
                  <a:srgbClr val="66635D"/>
                </a:solidFill>
              </a:rPr>
              <a:t>모든 결과는 취약점 확정이 아닌 근거 기반 검토 결과</a:t>
            </a:r>
          </a:p>
        </p:txBody>
      </p:sp>
    </p:spTree>
    <p:extLst>
      <p:ext uri="{BB962C8B-B14F-4D97-AF65-F5344CB8AC3E}">
        <p14:creationId xmlns:p14="http://schemas.microsoft.com/office/powerpoint/2010/main" val="8090346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788744-D5F2-43D9-87D0-5DDBF988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01 · 문제와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94315-784E-49B9-A2EB-477B14C8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84C15-81DC-4FAD-A314-EF4D4282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1717"/>
                </a:solidFill>
              </a:defRPr>
            </a:pPr>
            <a:r>
              <a:rPr sz="2775" b="1">
                <a:solidFill>
                  <a:srgbClr val="171717"/>
                </a:solidFill>
              </a:rPr>
              <a:t>오래된 대규모 저장소를 어떻게 빠르고 믿을 만하게 볼 것인가?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65400B-EA0B-4F2A-80E1-5969C472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F38DA9-F2B8-4DE5-82A2-A66762DD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3619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71717"/>
                </a:solidFill>
              </a:defRPr>
            </a:pPr>
            <a:r>
              <a:rPr sz="4200" b="1">
                <a:solidFill>
                  <a:srgbClr val="171717"/>
                </a:solidFill>
              </a:rPr>
              <a:t>235,816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9E1404-9953-4D07-99FC-772C2E50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622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635D"/>
                </a:solidFill>
              </a:defRPr>
            </a:pPr>
            <a:r>
              <a:rPr sz="1575" b="0">
                <a:solidFill>
                  <a:srgbClr val="66635D"/>
                </a:solidFill>
              </a:rPr>
              <a:t>줄의 C/C++ 코드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E4B20C-6C1C-42B5-AC29-780EADDD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19250"/>
            <a:ext cx="2000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71717"/>
                </a:solidFill>
              </a:defRPr>
            </a:pPr>
            <a:r>
              <a:rPr sz="4200" b="1">
                <a:solidFill>
                  <a:srgbClr val="171717"/>
                </a:solidFill>
              </a:rPr>
              <a:t>583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43A187-565C-4915-8E9B-D9F1457C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622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635D"/>
                </a:solidFill>
              </a:defRPr>
            </a:pPr>
            <a:r>
              <a:rPr sz="1575" b="0">
                <a:solidFill>
                  <a:srgbClr val="66635D"/>
                </a:solidFill>
              </a:rPr>
              <a:t>초기 검토 후보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85832C-F607-44B0-AD17-5A2E34F8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19250"/>
            <a:ext cx="171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71717"/>
                </a:solidFill>
              </a:defRPr>
            </a:pPr>
            <a:r>
              <a:rPr sz="4200" b="1">
                <a:solidFill>
                  <a:srgbClr val="171717"/>
                </a:solidFill>
              </a:rPr>
              <a:t>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4F28C2-8A6E-4D23-98F4-88806D90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3622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635D"/>
                </a:solidFill>
              </a:defRPr>
            </a:pPr>
            <a:r>
              <a:rPr sz="1575" b="0">
                <a:solidFill>
                  <a:srgbClr val="66635D"/>
                </a:solidFill>
              </a:rPr>
              <a:t>우선 분석 사례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FD69CC-27BD-4215-9043-CDB1A157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956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C7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94977-A711-4D14-8E90-103E46B3F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단순 검색의 문제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15D6B6-F60D-4616-9AFA-34E208C9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57625"/>
            <a:ext cx="4476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35D"/>
                </a:solidFill>
              </a:defRPr>
            </a:pPr>
            <a:r>
              <a:rPr sz="1500" b="0">
                <a:solidFill>
                  <a:srgbClr val="66635D"/>
                </a:solidFill>
              </a:rPr>
              <a:t>함수 이름이 있다는 사실만으로는 실제 취약점인지 알 수 없다.</a:t>
            </a:r>
          </a:p>
          <a:p xmlns:a="http://schemas.openxmlformats.org/drawingml/2006/main">
            <a:pPr algn="l">
              <a:defRPr sz="1500" b="0">
                <a:solidFill>
                  <a:srgbClr val="66635D"/>
                </a:solidFill>
              </a:defRPr>
            </a:pPr>
            <a:r>
              <a:rPr sz="1500" b="0">
                <a:solidFill>
                  <a:srgbClr val="66635D"/>
                </a:solidFill>
              </a:rPr>
              <a:t>중복·오탐·문맥 부족 때문에 사람이 모든 결과를 읽기 어렵다.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77F4AF-1746-4A6D-9668-05C2001B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이 과제의 목표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A1A9BC-3307-4040-8AA5-89D5B042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57625"/>
            <a:ext cx="5048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35D"/>
                </a:solidFill>
              </a:defRPr>
            </a:pPr>
            <a:r>
              <a:rPr sz="1500" b="0">
                <a:solidFill>
                  <a:srgbClr val="66635D"/>
                </a:solidFill>
              </a:rPr>
              <a:t>대규모 코드를 안정적으로 나누고, 입력 경로와 안전장치를 근거로 확인한 뒤</a:t>
            </a:r>
          </a:p>
          <a:p xmlns:a="http://schemas.openxmlformats.org/drawingml/2006/main">
            <a:pPr algn="l">
              <a:defRPr sz="1500" b="0">
                <a:solidFill>
                  <a:srgbClr val="66635D"/>
                </a:solidFill>
              </a:defRPr>
            </a:pPr>
            <a:r>
              <a:rPr sz="1500" b="0">
                <a:solidFill>
                  <a:srgbClr val="66635D"/>
                </a:solidFill>
              </a:rPr>
              <a:t>'가능성 높음·낮음·정보 부족'으로 정직하게 구분한다.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12190E-7513-4FBC-83CB-88ED85F9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43550"/>
            <a:ext cx="40005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D8F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869569-C76D-430D-85B3-3E6CEE93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</a:defRPr>
            </a:pPr>
            <a:r>
              <a:rPr sz="1050" b="1">
                <a:solidFill>
                  <a:srgbClr val="171717"/>
                </a:solidFill>
              </a:rPr>
              <a:t>핵심 원칙  위험 함수 ≠ 취약점 확정</a:t>
            </a:r>
          </a:p>
        </p:txBody>
      </p:sp>
    </p:spTree>
    <p:extLst>
      <p:ext uri="{BB962C8B-B14F-4D97-AF65-F5344CB8AC3E}">
        <p14:creationId xmlns:p14="http://schemas.microsoft.com/office/powerpoint/2010/main" val="11087055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8C386D2-69B6-4E9A-8BAB-A68A3B96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02 · 전체 아키텍처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A7BEC-1FF1-4787-B59B-10DB28CF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F2CE5-0112-4C0A-A3E5-443B0100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1717"/>
                </a:solidFill>
              </a:defRPr>
            </a:pPr>
            <a:r>
              <a:rPr sz="2775" b="1">
                <a:solidFill>
                  <a:srgbClr val="171717"/>
                </a:solidFill>
              </a:rPr>
              <a:t>역할을 분리해 한 단계의 실수를 다음 단계가 다시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E8C60-1B5A-44F8-A702-A8B9E138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D41CA0-DB9A-4495-8C8A-4F6B75C3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4955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EFA230-705F-4437-894E-2E410E63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400300"/>
            <a:ext cx="171450" cy="2286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348EFC-9207-4F46-A718-0A4E8981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4955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8682E3-7A77-4CD1-9DAC-EE40EBC3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400300"/>
            <a:ext cx="171450" cy="2286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1CDD91-1A58-432C-8560-A4D3298B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4955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59D15-5E06-43A0-8EEF-7E438EEEC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171450" cy="2286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A0D793-D7E2-4CF6-B0E6-6D649D1A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4955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520E41-FF79-4F45-93DF-DDBDAEB1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00300"/>
            <a:ext cx="171450" cy="2286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4BC9AD-CD42-473A-AD51-9F7C0502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4955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2080C2-69BA-455A-9BE0-8B98B0CC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00300"/>
            <a:ext cx="171450" cy="2286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A1F4BD-6E3B-44E8-98C0-90FF7549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1476375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CFE4FF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2FC44D-3D61-454A-A16F-16580C03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05025"/>
            <a:ext cx="1247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Scanner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AFAB38-CE55-4CD5-A43D-F50FA737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12477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위험 함수</a:t>
            </a:r>
          </a:p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후보 탐지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A1899C-4324-40F4-A4CB-20B17827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952625"/>
            <a:ext cx="1476375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CFF4DD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8A172F-9A4A-40BC-A6C5-4E9C6E48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105025"/>
            <a:ext cx="1247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Context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C99E79-8062-4E35-B36B-1342836A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457450"/>
            <a:ext cx="12477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함수·인자·</a:t>
            </a:r>
          </a:p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호출 관계 수집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7BC2D2-E258-46CE-95BC-D848AC32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952625"/>
            <a:ext cx="1476375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E39B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E4192E-265F-46D4-B882-8D46A644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05025"/>
            <a:ext cx="1247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Triage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BBB787-7A46-4AC9-87E1-C5F42CC4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57450"/>
            <a:ext cx="12477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중복 통합·</a:t>
            </a:r>
          </a:p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우선순위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FE2E3D-BE92-422D-928A-AA49EC3C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52625"/>
            <a:ext cx="1476375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E5E0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A153E3-0898-4BB6-8F16-8162FE15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05025"/>
            <a:ext cx="1247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Security Review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2DD062-608E-4F88-AA57-3A7D6AA1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57450"/>
            <a:ext cx="12477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입력 경로·</a:t>
            </a:r>
          </a:p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방어 로직 분석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227D6D-4417-4BFE-9BD6-8A9E1632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1476375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D8FF57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1D8B6C-8773-406B-957B-4182917BD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1247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Verification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8604F6-53AA-4452-86AA-9BD0DBE85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12477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경로·줄번호·</a:t>
            </a:r>
          </a:p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과장 여부 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19E16F-58AA-4632-A643-8B745870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952625"/>
            <a:ext cx="1476375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E2FBDC-A9CA-4F81-BA97-D8AD896E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105025"/>
            <a:ext cx="1247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Report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A65801-8ABC-4569-98A8-677FFBCB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457450"/>
            <a:ext cx="12477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JSON·MD·HTML</a:t>
            </a:r>
          </a:p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결과 생성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03CD78-2048-4705-BA8A-5173FDAE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29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6635D"/>
                </a:solidFill>
              </a:defRPr>
            </a:pPr>
            <a:r>
              <a:rPr sz="1275" b="1">
                <a:solidFill>
                  <a:srgbClr val="66635D"/>
                </a:solidFill>
              </a:rPr>
              <a:t>입력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A98C51-D569-4C54-A7AB-9027F8F6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623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</a:defRPr>
            </a:pPr>
            <a:r>
              <a:rPr sz="1575" b="1">
                <a:solidFill>
                  <a:srgbClr val="171717"/>
                </a:solidFill>
              </a:rPr>
              <a:t>target/userland + config/rules.json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ED064F-C426-437B-9507-67125C58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29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6635D"/>
                </a:solidFill>
              </a:defRPr>
            </a:pPr>
            <a:r>
              <a:rPr sz="1275" b="1">
                <a:solidFill>
                  <a:srgbClr val="66635D"/>
                </a:solidFill>
              </a:rPr>
              <a:t>출력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4B8EEC-080E-49CB-840B-F9B50213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762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</a:defRPr>
            </a:pPr>
            <a:r>
              <a:rPr sz="1575" b="1">
                <a:solidFill>
                  <a:srgbClr val="171717"/>
                </a:solidFill>
              </a:rPr>
              <a:t>candidates → context bundles → analysis → reports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DD55BA-A1DF-4865-A2C4-34B54F57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863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C7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0EDA95-08F2-46E6-B672-6003CC3B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482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AI API 미설정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27C608-C96B-4607-9397-184AADF6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10150"/>
            <a:ext cx="876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35D"/>
                </a:solidFill>
              </a:defRPr>
            </a:pPr>
            <a:r>
              <a:rPr sz="1425" b="0">
                <a:solidFill>
                  <a:srgbClr val="66635D"/>
                </a:solidFill>
              </a:rPr>
              <a:t>프롬프트·기대 JSON 스키마·실행 로그를 남기고, 기존 검토 데이터는 human_provided_review로 구분</a:t>
            </a:r>
          </a:p>
        </p:txBody>
      </p:sp>
    </p:spTree>
    <p:extLst>
      <p:ext uri="{BB962C8B-B14F-4D97-AF65-F5344CB8AC3E}">
        <p14:creationId xmlns:p14="http://schemas.microsoft.com/office/powerpoint/2010/main" val="14727754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75A9EC-1DC1-4962-84F4-AA0AFD60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03 · 대규모 코드 분할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D2E2CB-0511-4F4D-A04F-ABF8ED79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01CCFD-63A7-408C-9EFB-BCBACB42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1717"/>
                </a:solidFill>
              </a:defRPr>
            </a:pPr>
            <a:r>
              <a:rPr sz="2775" b="1">
                <a:solidFill>
                  <a:srgbClr val="171717"/>
                </a:solidFill>
              </a:rPr>
              <a:t>세 배치로 균등하게 나누되 후보는 빠짐없이 유지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990E00-A911-4C1B-A9DF-19444639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3C578B-E93E-4D33-8560-F849515B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28575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D8F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492EB-E3B1-46A0-A5DC-D122D06A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</a:defRPr>
            </a:pPr>
            <a:r>
              <a:rPr sz="1050" b="1">
                <a:solidFill>
                  <a:srgbClr val="171717"/>
                </a:solidFill>
              </a:rPr>
              <a:t>전체 후보와 일치  583 = 583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93C5A7-05E1-42CD-9137-6F7400E7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15006"/>
            <a:ext cx="2095500" cy="2618994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CFE4FF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5C24B9-F726-40BB-B387-33B463AE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86456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1717"/>
                </a:solidFill>
              </a:defRPr>
            </a:pPr>
            <a:r>
              <a:rPr sz="1500" b="1">
                <a:solidFill>
                  <a:srgbClr val="171717"/>
                </a:solidFill>
              </a:rPr>
              <a:t>BATCH-001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BB5330-F5ED-4C8A-9891-A6DDBC2D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81756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1717"/>
                </a:solidFill>
              </a:defRPr>
            </a:pPr>
            <a:r>
              <a:rPr sz="2025" b="1">
                <a:solidFill>
                  <a:srgbClr val="171717"/>
                </a:solidFill>
              </a:rPr>
              <a:t>78,749줄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346F7C-0A0B-4F33-84A1-95969FFD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481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635D"/>
                </a:solidFill>
              </a:defRPr>
            </a:pPr>
            <a:r>
              <a:rPr sz="1350" b="0">
                <a:solidFill>
                  <a:srgbClr val="66635D"/>
                </a:solidFill>
              </a:rPr>
              <a:t>209개 파일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05EE0E-D237-4F8D-9455-47CD2F71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77106"/>
            <a:ext cx="1428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2021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0BA8A6-B46E-4864-96C2-2B8D68D9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334256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후보 378개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D3882A-BD6E-4A6A-BE07-DB85DC46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673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635D"/>
                </a:solidFill>
              </a:defRPr>
            </a:pPr>
            <a:r>
              <a:rPr sz="1200" b="0">
                <a:solidFill>
                  <a:srgbClr val="66635D"/>
                </a:solidFill>
              </a:rPr>
              <a:t>0.756초 · 오류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F0947B-A20D-4446-B732-7720AB3B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49880"/>
            <a:ext cx="2095500" cy="248412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CFF4DD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35D0EC-8933-4E70-9E6C-C539A33D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02133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1717"/>
                </a:solidFill>
              </a:defRPr>
            </a:pPr>
            <a:r>
              <a:rPr sz="1500" b="1">
                <a:solidFill>
                  <a:srgbClr val="171717"/>
                </a:solidFill>
              </a:rPr>
              <a:t>BATCH-002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8E9CEF-5B3F-44F2-8769-14DE35E8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51663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1717"/>
                </a:solidFill>
              </a:defRPr>
            </a:pPr>
            <a:r>
              <a:rPr sz="2025" b="1">
                <a:solidFill>
                  <a:srgbClr val="171717"/>
                </a:solidFill>
              </a:rPr>
              <a:t>78,395줄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C70F3-8BB1-4D91-BE1F-7D17B4E3C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983355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635D"/>
                </a:solidFill>
              </a:defRPr>
            </a:pPr>
            <a:r>
              <a:rPr sz="1350" b="0">
                <a:solidFill>
                  <a:srgbClr val="66635D"/>
                </a:solidFill>
              </a:rPr>
              <a:t>177개 파일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9E3D0B-1EB8-4C5A-80F6-26E6FFD2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11980"/>
            <a:ext cx="1428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2021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067E48-E147-42EB-B906-44D9720DC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6913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후보 101개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B0B8F4-3362-4D2E-BD53-EF39F426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4673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635D"/>
                </a:solidFill>
              </a:defRPr>
            </a:pPr>
            <a:r>
              <a:rPr sz="1200" b="0">
                <a:solidFill>
                  <a:srgbClr val="66635D"/>
                </a:solidFill>
              </a:rPr>
              <a:t>0.553초 · 오류 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114A06-E6A4-4EA8-9DB4-AB19D7B3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44343"/>
            <a:ext cx="2095500" cy="2589657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E39B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DBF524-B49B-4483-9E99-F9DCB4BA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15793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1717"/>
                </a:solidFill>
              </a:defRPr>
            </a:pPr>
            <a:r>
              <a:rPr sz="1500" b="1">
                <a:solidFill>
                  <a:srgbClr val="171717"/>
                </a:solidFill>
              </a:rPr>
              <a:t>BATCH-003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48B918-F3AD-4F09-9FD3-F8A2B321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11093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1717"/>
                </a:solidFill>
              </a:defRPr>
            </a:pPr>
            <a:r>
              <a:rPr sz="2025" b="1">
                <a:solidFill>
                  <a:srgbClr val="171717"/>
                </a:solidFill>
              </a:rPr>
              <a:t>78,672줄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894100-03CD-4445-8C75-A33EA940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77818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635D"/>
                </a:solidFill>
              </a:defRPr>
            </a:pPr>
            <a:r>
              <a:rPr sz="1350" b="0">
                <a:solidFill>
                  <a:srgbClr val="66635D"/>
                </a:solidFill>
              </a:rPr>
              <a:t>268개 파일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AC5797-F9C3-41A1-ADB0-A5A4621C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306443"/>
            <a:ext cx="1428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2021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29B4D9-51B0-4269-8C05-CEE9D02F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363593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후보 104개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E1FB29-0D9E-4D69-9046-10D8CD80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4673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635D"/>
                </a:solidFill>
              </a:defRPr>
            </a:pPr>
            <a:r>
              <a:rPr sz="1200" b="0">
                <a:solidFill>
                  <a:srgbClr val="66635D"/>
                </a:solidFill>
              </a:rPr>
              <a:t>0.554초 · 오류 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08893B-E7B5-4AE5-B93A-53B75EF7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626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코드 줄 수 기준으로 균형 분할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2DF681-93AA-4C89-AAB6-4FC7A250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9626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후보 분포는 코드 성격에 따라 달라짐</a:t>
            </a:r>
          </a:p>
        </p:txBody>
      </p:sp>
    </p:spTree>
    <p:extLst>
      <p:ext uri="{BB962C8B-B14F-4D97-AF65-F5344CB8AC3E}">
        <p14:creationId xmlns:p14="http://schemas.microsoft.com/office/powerpoint/2010/main" val="7499715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B9E542-ECD0-40E8-B45C-054EA6C2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04 · 토큰 절약 전략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33F7B9-91DB-40D6-889C-F9070346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E80D55-AE9E-4895-85B6-2A2E8EA1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1717"/>
                </a:solidFill>
              </a:defRPr>
            </a:pPr>
            <a:r>
              <a:rPr sz="2775" b="1">
                <a:solidFill>
                  <a:srgbClr val="171717"/>
                </a:solidFill>
              </a:rPr>
              <a:t>전체 코드를 보내지 않고 판단에 가까운 근거부터 수집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5747FB-F16A-4A6A-BC8D-5A921A30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C9CC69-A91A-4E2E-BD33-1A48D863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52575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E786C8-C7B6-4B08-ACCD-9B122532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335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</a:defRPr>
            </a:pPr>
            <a:r>
              <a:rPr sz="1725" b="1">
                <a:solidFill>
                  <a:srgbClr val="171717"/>
                </a:solidFill>
              </a:rPr>
              <a:t>후보 우선순위화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961580-D49D-4FCA-B50E-DF81AE7A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52575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35D"/>
                </a:solidFill>
              </a:defRPr>
            </a:pPr>
            <a:r>
              <a:rPr sz="1425" b="0">
                <a:solidFill>
                  <a:srgbClr val="66635D"/>
                </a:solidFill>
              </a:rPr>
              <a:t>위험도와 근거가 높은 후보부터 분석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E0925-DE7A-42CD-9766-2A9E880F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288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C7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1BEAC5-45E9-482E-89ED-107E9463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90775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F5BCA9-03CE-4C6D-AB0B-8AC7CC8A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717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</a:defRPr>
            </a:pPr>
            <a:r>
              <a:rPr sz="1725" b="1">
                <a:solidFill>
                  <a:srgbClr val="171717"/>
                </a:solidFill>
              </a:rPr>
              <a:t>함수 문맥 제한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BB61A2-E369-4B69-B58A-044E8B4A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90775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35D"/>
                </a:solidFill>
              </a:defRPr>
            </a:pPr>
            <a:r>
              <a:rPr sz="1425" b="0">
                <a:solidFill>
                  <a:srgbClr val="66635D"/>
                </a:solidFill>
              </a:rPr>
              <a:t>후보 함수 140줄 · 묶음 최대 220줄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63941-FE4A-48CB-8942-8A9FB192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670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C7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D017DC-2EBF-40D3-AC40-DFF20FDD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28975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E7DFE0-2C36-43E0-82D6-2D46C6C3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099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</a:defRPr>
            </a:pPr>
            <a:r>
              <a:rPr sz="1725" b="1">
                <a:solidFill>
                  <a:srgbClr val="171717"/>
                </a:solidFill>
              </a:rPr>
              <a:t>호출 관계 제한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4174DC-EE27-4F7D-918B-BA2B06A1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28975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35D"/>
                </a:solidFill>
              </a:defRPr>
            </a:pPr>
            <a:r>
              <a:rPr sz="1425" b="0">
                <a:solidFill>
                  <a:srgbClr val="66635D"/>
                </a:solidFill>
              </a:rPr>
              <a:t>호출자 2개 · 피호출자 3개 코드 우선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E345E8-EAA9-49B8-A5CB-61AD8EDA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052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C7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9BD6FD-B269-45F0-9A42-FF72F4EA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67175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9C362D-7327-44E1-A453-705EA6ED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481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</a:defRPr>
            </a:pPr>
            <a:r>
              <a:rPr sz="1725" b="1">
                <a:solidFill>
                  <a:srgbClr val="171717"/>
                </a:solidFill>
              </a:rPr>
              <a:t>중복 제거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E859EC-8148-408A-B7E9-12065E83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67175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35D"/>
                </a:solidFill>
              </a:defRPr>
            </a:pPr>
            <a:r>
              <a:rPr sz="1425" b="0">
                <a:solidFill>
                  <a:srgbClr val="66635D"/>
                </a:solidFill>
              </a:rPr>
              <a:t>같은 원인의 후보를 한 분석 사례로 통합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0974C9-1A58-473E-B33C-2C781B86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434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C7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76D03D-B1BA-4CAC-A4F6-FDD31A84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05375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9FAC7F-1682-4883-99CB-38F5831D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863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</a:defRPr>
            </a:pPr>
            <a:r>
              <a:rPr sz="1725" b="1">
                <a:solidFill>
                  <a:srgbClr val="171717"/>
                </a:solidFill>
              </a:rPr>
              <a:t>필요할 때만 확장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D8DD41-DBDC-4708-9F83-AF51670E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05375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35D"/>
                </a:solidFill>
              </a:defRPr>
            </a:pPr>
            <a:r>
              <a:rPr sz="1425" b="0">
                <a:solidFill>
                  <a:srgbClr val="66635D"/>
                </a:solidFill>
              </a:rPr>
              <a:t>부족한 함수·매크로만 추가 문맥 수집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DB1D82-8AD2-4AA6-A949-14630861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816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09705C-9BAF-495D-8B7D-87BDE5B8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53125"/>
            <a:ext cx="12001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2021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70E123-5E9C-45EF-B26F-B9E32CB6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1027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절약의 기준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906D23-48FA-40D1-A609-2731D1AE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962650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</a:defRPr>
            </a:pPr>
            <a:r>
              <a:rPr sz="1350" b="1">
                <a:solidFill>
                  <a:srgbClr val="171717"/>
                </a:solidFill>
              </a:rPr>
              <a:t>가까운 근거를 먼저 보되, 부족하면 추가 수집하고 끝까지 모르면 ‘정보 부족’으로 남긴다.</a:t>
            </a:r>
          </a:p>
        </p:txBody>
      </p:sp>
    </p:spTree>
    <p:extLst>
      <p:ext uri="{BB962C8B-B14F-4D97-AF65-F5344CB8AC3E}">
        <p14:creationId xmlns:p14="http://schemas.microsoft.com/office/powerpoint/2010/main" val="11313721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4CDBF2-F8AB-46BC-A5BD-5087F74F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05 · 실제 분석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0223D6-7914-45C6-AFDA-8BD689D4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60730-3344-4255-8FC8-87BB986CB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1717"/>
                </a:solidFill>
              </a:defRPr>
            </a:pPr>
            <a:r>
              <a:rPr sz="2775" b="1">
                <a:solidFill>
                  <a:srgbClr val="171717"/>
                </a:solidFill>
              </a:rPr>
              <a:t>AN-010 · CLI 입력이 256바이트 배열의 strcpy까지 도달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90623-CA9C-41D2-9AFB-93922882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5CFD81-8C38-45C7-B0ED-82F69A04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3714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E5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689AE1-5D51-4DF3-9FBC-B1D7E01B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95425"/>
            <a:ext cx="352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85D4A"/>
                </a:solidFill>
              </a:defRPr>
            </a:pPr>
            <a:r>
              <a:rPr sz="1050" b="1">
                <a:solidFill>
                  <a:srgbClr val="E85D4A"/>
                </a:solidFill>
              </a:rPr>
              <a:t>검토 결과: 취약 가능성 높음 · 신뢰도 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4115E9-9037-42DF-9997-1FB5D9D6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6384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282AD3-4A72-4621-BABD-F9C47C4D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543175"/>
            <a:ext cx="171450" cy="2286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6B740F-45AE-4052-B20B-0323AECE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384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4C0374-0A71-447C-A751-A540DD88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543175"/>
            <a:ext cx="171450" cy="2286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41F77F-6436-48DB-8AE7-2880487E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6384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9EC1ED-AF0B-4A1C-AA7F-8CF0E0FB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543175"/>
            <a:ext cx="171450" cy="2286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A8D91F-2569-4546-8FD3-E0CDA901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3125"/>
            <a:ext cx="12001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CFE4FF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4A0A44-EFF6-4D5F-8E27-4C127E7D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95525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CLI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3E6F6-A3BD-446A-B714-CAE080BE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971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arg / argv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55EBC3-1768-4755-8881-A390CC03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143125"/>
            <a:ext cx="15049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CFF4DD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C29953-61C6-4867-A5DD-5FCA8D3E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295525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param_val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70995B-14CC-42EC-A882-50B2FF06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47950"/>
            <a:ext cx="1276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'=' 뒤 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6C2E0B-0931-46F8-BA12-6362F687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43125"/>
            <a:ext cx="15049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E39B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D7F9C3-A8FB-485D-9F02-C8196798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95525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값 적용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A7F7CF-157C-40CC-8EF1-1CB809E8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47950"/>
            <a:ext cx="1276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apply_override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B1A70B-06BD-46F3-8DCD-10ED3579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43125"/>
            <a:ext cx="15049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E5E0"/>
          </a:solidFill>
          <a:ln xmlns:a="http://schemas.openxmlformats.org/drawingml/2006/main" w="9525">
            <a:solidFill>
              <a:srgbClr val="17171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3DF9AF-34AF-4B64-9A25-B3E43145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95525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strcpy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AE7D0F-7B7D-44BF-B9FB-4335B72D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47950"/>
            <a:ext cx="1276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635D"/>
                </a:solidFill>
              </a:defRPr>
            </a:pPr>
            <a:r>
              <a:rPr sz="975" b="0">
                <a:solidFill>
                  <a:srgbClr val="66635D"/>
                </a:solidFill>
              </a:rPr>
              <a:t>target_value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0D574C-07EF-4B0B-A4AA-FE7C119F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52600"/>
            <a:ext cx="367665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2021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F6A448-5B19-4D8B-AA55-C12DD910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526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FF57"/>
                </a:solidFill>
              </a:defRPr>
            </a:pPr>
            <a:r>
              <a:rPr sz="1200" b="1">
                <a:solidFill>
                  <a:srgbClr val="D8FF57"/>
                </a:solidFill>
              </a:rPr>
              <a:t>dtoverlay.c:1852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D60C5A-031A-4AA2-B43E-53FFE2BA9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7647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static char target_value[256];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ED7777-511A-4274-B02F-B8958195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81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FF57"/>
                </a:solidFill>
              </a:defRPr>
            </a:pPr>
            <a:r>
              <a:rPr sz="1200" b="1">
                <a:solidFill>
                  <a:srgbClr val="D8FF57"/>
                </a:solidFill>
              </a:rPr>
              <a:t>dtoverlay.c:1859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173903-297E-46DB-B5CA-32B5A8E9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0515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strcpy(target_value, override_value);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2303D0-2684-413A-A6CF-392C97AE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확인된 근거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061842-4B73-42A9-895B-16ACAABB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5619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35D"/>
                </a:solidFill>
              </a:defRPr>
            </a:pPr>
            <a:r>
              <a:rPr sz="1425" b="0">
                <a:solidFill>
                  <a:srgbClr val="66635D"/>
                </a:solidFill>
              </a:rPr>
              <a:t>dtoverlay_main.c:416–448에서 명령행 값 추출·전달</a:t>
            </a:r>
          </a:p>
          <a:p xmlns:a="http://schemas.openxmlformats.org/drawingml/2006/main">
            <a:pPr algn="l">
              <a:defRPr sz="1425" b="0">
                <a:solidFill>
                  <a:srgbClr val="66635D"/>
                </a:solidFill>
              </a:defRPr>
            </a:pPr>
            <a:r>
              <a:rPr sz="1425" b="0">
                <a:solidFill>
                  <a:srgbClr val="66635D"/>
                </a:solidFill>
              </a:rPr>
              <a:t>dtmerge.c:165–185에서도 argv 값이 같은 경로로 전달</a:t>
            </a:r>
          </a:p>
          <a:p xmlns:a="http://schemas.openxmlformats.org/drawingml/2006/main">
            <a:pPr algn="l">
              <a:defRPr sz="1425" b="0">
                <a:solidFill>
                  <a:srgbClr val="66635D"/>
                </a:solidFill>
              </a:defRPr>
            </a:pPr>
            <a:r>
              <a:rPr sz="1425" b="0">
                <a:solidFill>
                  <a:srgbClr val="66635D"/>
                </a:solidFill>
              </a:rPr>
              <a:t>복사 전 255자 제한 검사는 확인되지 않음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573A18-E4FA-4AFA-B60B-D3BBA0E1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81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아직 확인하지 못한 것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5EC92A-9BBE-4B80-A76C-05715840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19650"/>
            <a:ext cx="4667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635D"/>
                </a:solidFill>
              </a:defRPr>
            </a:pPr>
            <a:r>
              <a:rPr sz="1425" b="0">
                <a:solidFill>
                  <a:srgbClr val="66635D"/>
                </a:solidFill>
              </a:rPr>
              <a:t>동적 재현 · 실제 공격 성공 · 실행 권한·배포 조건</a:t>
            </a:r>
          </a:p>
          <a:p xmlns:a="http://schemas.openxmlformats.org/drawingml/2006/main">
            <a:pPr algn="l">
              <a:defRPr sz="1425" b="0">
                <a:solidFill>
                  <a:srgbClr val="66635D"/>
                </a:solidFill>
              </a:defRPr>
            </a:pPr>
            <a:r>
              <a:rPr sz="1425" b="0">
                <a:solidFill>
                  <a:srgbClr val="66635D"/>
                </a:solidFill>
              </a:rPr>
              <a:t>따라서 ‘취약점 확정’이 아니라 코드상 가능성으로 보고</a:t>
            </a:r>
          </a:p>
        </p:txBody>
      </p:sp>
    </p:spTree>
    <p:extLst>
      <p:ext uri="{BB962C8B-B14F-4D97-AF65-F5344CB8AC3E}">
        <p14:creationId xmlns:p14="http://schemas.microsoft.com/office/powerpoint/2010/main" val="18449031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5BE9B2-AE78-4F9F-AD12-8463BA19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06 · 차별점과 신뢰성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4DDE60-492F-4335-A376-17B02073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2D1AC2-11CA-44B2-8E00-3B4CDAC3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1717"/>
                </a:solidFill>
              </a:defRPr>
            </a:pPr>
            <a:r>
              <a:rPr sz="2775" b="1">
                <a:solidFill>
                  <a:srgbClr val="171717"/>
                </a:solidFill>
              </a:rPr>
              <a:t>위험 함수 탐지에서 멈추지 않고 근거와 반대 근거까지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7989FB-9BDE-4C44-8FB6-F2BD5CED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260870-5DA8-4EB8-875D-A90E204BD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57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35D"/>
                </a:solidFill>
              </a:defRPr>
            </a:pPr>
            <a:r>
              <a:rPr sz="1800" b="1">
                <a:solidFill>
                  <a:srgbClr val="66635D"/>
                </a:solidFill>
              </a:rPr>
              <a:t>단순 grep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274377-B6F4-42B9-9259-642B5D44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0955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635D"/>
                </a:solidFill>
              </a:defRPr>
            </a:pPr>
            <a:r>
              <a:rPr sz="1650" b="0">
                <a:solidFill>
                  <a:srgbClr val="66635D"/>
                </a:solidFill>
              </a:rPr>
              <a:t>함수 이름 발견</a:t>
            </a:r>
          </a:p>
          <a:p xmlns:a="http://schemas.openxmlformats.org/drawingml/2006/main">
            <a:pPr algn="l">
              <a:defRPr sz="1650" b="0">
                <a:solidFill>
                  <a:srgbClr val="66635D"/>
                </a:solidFill>
              </a:defRPr>
            </a:pPr>
            <a:r>
              <a:rPr sz="1650" b="0">
                <a:solidFill>
                  <a:srgbClr val="66635D"/>
                </a:solidFill>
              </a:rPr>
              <a:t>→ 곧바로 위험 취급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F52866-3873-4666-902E-76068EA1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573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이 워크플로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0A50A9-6566-40A3-9F90-F309C996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95500"/>
            <a:ext cx="381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후보 → 문맥 → 중복 통합</a:t>
            </a:r>
          </a:p>
          <a:p xmlns:a="http://schemas.openxmlformats.org/drawingml/2006/main">
            <a:pPr algn="l">
              <a:defRPr sz="1650" b="1">
                <a:solidFill>
                  <a:srgbClr val="171717"/>
                </a:solidFill>
              </a:defRPr>
            </a:pPr>
            <a:r>
              <a:rPr sz="1650" b="1">
                <a:solidFill>
                  <a:srgbClr val="171717"/>
                </a:solidFill>
              </a:rPr>
              <a:t>→ 근거 분석 → 독립 검증 → 보고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55712A-0DB3-4B85-9A0B-5EDC974B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57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신뢰성 장치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7D6154-5043-4A65-AFE8-831A9512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95500"/>
            <a:ext cx="257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1717"/>
                </a:solidFill>
              </a:defRPr>
            </a:pPr>
            <a:r>
              <a:rPr sz="1650" b="0">
                <a:solidFill>
                  <a:srgbClr val="171717"/>
                </a:solidFill>
              </a:rPr>
              <a:t>경로·줄번호 대조</a:t>
            </a:r>
          </a:p>
          <a:p xmlns:a="http://schemas.openxmlformats.org/drawingml/2006/main">
            <a:pPr algn="l">
              <a:defRPr sz="1650" b="0">
                <a:solidFill>
                  <a:srgbClr val="171717"/>
                </a:solidFill>
              </a:defRPr>
            </a:pPr>
            <a:r>
              <a:rPr sz="1650" b="0">
                <a:solidFill>
                  <a:srgbClr val="171717"/>
                </a:solidFill>
              </a:rPr>
              <a:t>정보 부족 명시</a:t>
            </a:r>
          </a:p>
          <a:p xmlns:a="http://schemas.openxmlformats.org/drawingml/2006/main">
            <a:pPr algn="l">
              <a:defRPr sz="1650" b="0">
                <a:solidFill>
                  <a:srgbClr val="171717"/>
                </a:solidFill>
              </a:defRPr>
            </a:pPr>
            <a:r>
              <a:rPr sz="1650" b="0">
                <a:solidFill>
                  <a:srgbClr val="171717"/>
                </a:solidFill>
              </a:rPr>
              <a:t>사람 검토 데이터 구분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01C290-79DD-4F60-A0C0-4E87E746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71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C7B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2AA1C3-868D-49B7-A18B-6ED51D84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290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1717"/>
                </a:solidFill>
              </a:defRPr>
            </a:pPr>
            <a:r>
              <a:rPr sz="3750" b="1">
                <a:solidFill>
                  <a:srgbClr val="171717"/>
                </a:solidFill>
              </a:rPr>
              <a:t>62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5F3CEE-7923-480C-89EE-56FD85E3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720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검증된 인용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D69C65-21C2-4B9C-A103-06B1D750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290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1717"/>
                </a:solidFill>
              </a:defRPr>
            </a:pPr>
            <a:r>
              <a:rPr sz="3750" b="1">
                <a:solidFill>
                  <a:srgbClr val="171717"/>
                </a:solidFill>
              </a:rPr>
              <a:t>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B4DF27-54E2-4868-9F40-4EBFE5D6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720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가능성 낮음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F4D16B-7D66-4773-8F02-4E5B65CE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8290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1717"/>
                </a:solidFill>
              </a:defRPr>
            </a:pPr>
            <a:r>
              <a:rPr sz="3750" b="1">
                <a:solidFill>
                  <a:srgbClr val="171717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922358-C7A5-4F07-A00A-FCD5429E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720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정보 부족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4DC3FB-AE44-4D70-A58B-CD962C4C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290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E85D4A"/>
                </a:solidFill>
              </a:defRPr>
            </a:pPr>
            <a:r>
              <a:rPr sz="3750" b="1">
                <a:solidFill>
                  <a:srgbClr val="E85D4A"/>
                </a:solidFill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7F1C71-D4B0-4A30-A2F9-5C53791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5720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가능성 높음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799E4F-8477-4C9B-A1FB-97AB63B31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22098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2021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C8B265-CC4F-412C-A4BD-FCD4B994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human_provided_review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E09D27-E350-45C7-865A-614A0311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610225"/>
            <a:ext cx="733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1717"/>
                </a:solidFill>
              </a:defRPr>
            </a:pPr>
            <a:r>
              <a:rPr sz="1425" b="1">
                <a:solidFill>
                  <a:srgbClr val="171717"/>
                </a:solidFill>
              </a:rPr>
              <a:t>외부 LLM API 미사용 · 자동 AI 분석처럼 표시하지 않음</a:t>
            </a:r>
          </a:p>
        </p:txBody>
      </p:sp>
    </p:spTree>
    <p:extLst>
      <p:ext uri="{BB962C8B-B14F-4D97-AF65-F5344CB8AC3E}">
        <p14:creationId xmlns:p14="http://schemas.microsoft.com/office/powerpoint/2010/main" val="3958500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8F0029-F631-4B1E-9721-2D2B9409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07 · 한계와 결론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F37DF5-7C16-4EDA-B5EC-AC16E966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6635D"/>
                </a:solidFill>
              </a:defRPr>
            </a:pPr>
            <a:r>
              <a:rPr sz="975" b="1">
                <a:solidFill>
                  <a:srgbClr val="66635D"/>
                </a:solidFill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078EF5-0672-42FD-8367-E1FEF559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1717"/>
                </a:solidFill>
              </a:defRPr>
            </a:pPr>
            <a:r>
              <a:rPr sz="2775" b="1">
                <a:solidFill>
                  <a:srgbClr val="171717"/>
                </a:solidFill>
              </a:rPr>
              <a:t>빠른 선별은 완료 — 다음은 실제 재현과 파서 정확도 개선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FD8F8C-383F-42B4-B79D-FE4B24A0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EFDF07-5725-4CFD-86B2-AC56C585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현재 결론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FF1AA0-57EC-42E0-AE9C-FE5D98D9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71675"/>
            <a:ext cx="685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1717"/>
                </a:solidFill>
              </a:defRPr>
            </a:pPr>
            <a:r>
              <a:rPr sz="2550" b="1">
                <a:solidFill>
                  <a:srgbClr val="171717"/>
                </a:solidFill>
              </a:rPr>
              <a:t>대규모 코드도 배치와 역할 분담으로</a:t>
            </a:r>
          </a:p>
          <a:p xmlns:a="http://schemas.openxmlformats.org/drawingml/2006/main">
            <a:pPr algn="l">
              <a:defRPr sz="2550" b="1">
                <a:solidFill>
                  <a:srgbClr val="171717"/>
                </a:solidFill>
              </a:defRPr>
            </a:pPr>
            <a:r>
              <a:rPr sz="2550" b="1">
                <a:solidFill>
                  <a:srgbClr val="171717"/>
                </a:solidFill>
              </a:rPr>
              <a:t>검토 가능한 근거 묶음으로 줄일 수 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EB3E67-E32D-4049-88CC-C989ADD8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981200"/>
            <a:ext cx="2381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E5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F5A155-EBDD-4706-950E-51A79CC7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383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85D4A"/>
                </a:solidFill>
              </a:defRPr>
            </a:pPr>
            <a:r>
              <a:rPr sz="1050" b="1">
                <a:solidFill>
                  <a:srgbClr val="E85D4A"/>
                </a:solidFill>
              </a:rPr>
              <a:t>취약점 확정 아님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5FAFE8-5B78-4857-B199-69342714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432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1BD501-8E51-40B4-997E-FF350D26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433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한계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D6E94-AECB-44CA-909A-A03E18DF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719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</a:defRPr>
            </a:pPr>
            <a:r>
              <a:rPr sz="1575" b="1">
                <a:solidFill>
                  <a:srgbClr val="171717"/>
                </a:solidFill>
              </a:rPr>
              <a:t>정규식 기반 호출 관계</a:t>
            </a:r>
          </a:p>
          <a:p xmlns:a="http://schemas.openxmlformats.org/drawingml/2006/main">
            <a:pPr algn="l">
              <a:defRPr sz="1575" b="1">
                <a:solidFill>
                  <a:srgbClr val="171717"/>
                </a:solidFill>
              </a:defRPr>
            </a:pPr>
            <a:r>
              <a:rPr sz="1575" b="1">
                <a:solidFill>
                  <a:srgbClr val="171717"/>
                </a:solidFill>
              </a:rPr>
              <a:t>매크로·함수 포인터 해석 한계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9710BD-DB66-49E0-9DF7-017957F9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433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다음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959773-5150-45F1-8535-97D07BBF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719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</a:defRPr>
            </a:pPr>
            <a:r>
              <a:rPr sz="1575" b="1">
                <a:solidFill>
                  <a:srgbClr val="171717"/>
                </a:solidFill>
              </a:rPr>
              <a:t>AN-010 최소 재현 테스트</a:t>
            </a:r>
          </a:p>
          <a:p xmlns:a="http://schemas.openxmlformats.org/drawingml/2006/main">
            <a:pPr algn="l">
              <a:defRPr sz="1575" b="1">
                <a:solidFill>
                  <a:srgbClr val="171717"/>
                </a:solidFill>
              </a:defRPr>
            </a:pPr>
            <a:r>
              <a:rPr sz="1575" b="1">
                <a:solidFill>
                  <a:srgbClr val="171717"/>
                </a:solidFill>
              </a:rPr>
              <a:t>ASan/UBSan 증거 수집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56B01-1622-42B3-A57C-57A32A5C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433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635D"/>
                </a:solidFill>
              </a:defRPr>
            </a:pPr>
            <a:r>
              <a:rPr sz="1350" b="1">
                <a:solidFill>
                  <a:srgbClr val="66635D"/>
                </a:solidFill>
              </a:rPr>
              <a:t>다음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F75B0A-CDB4-44AC-822A-734F6703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719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</a:defRPr>
            </a:pPr>
            <a:r>
              <a:rPr sz="1575" b="1">
                <a:solidFill>
                  <a:srgbClr val="171717"/>
                </a:solidFill>
              </a:rPr>
              <a:t>AN-007의 libfdt 문자열 종료·</a:t>
            </a:r>
          </a:p>
          <a:p xmlns:a="http://schemas.openxmlformats.org/drawingml/2006/main">
            <a:pPr algn="l">
              <a:defRPr sz="1575" b="1">
                <a:solidFill>
                  <a:srgbClr val="171717"/>
                </a:solidFill>
              </a:defRPr>
            </a:pPr>
            <a:r>
              <a:rPr sz="1575" b="1">
                <a:solidFill>
                  <a:srgbClr val="171717"/>
                </a:solidFill>
              </a:rPr>
              <a:t>DTB 검증 경로 추가 조사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9B4F84-1FC6-4C5B-91D8-7CD914DC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13144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D8F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A3624C-0AE7-4C94-9046-D3F7A1F6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76900"/>
            <a:ext cx="112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</a:defRPr>
            </a:pPr>
            <a:r>
              <a:rPr sz="1050" b="1">
                <a:solidFill>
                  <a:srgbClr val="171717"/>
                </a:solidFill>
              </a:rPr>
              <a:t>최종 메시지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00F52B-D8C6-42E2-BF77-5327C615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923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717"/>
                </a:solidFill>
              </a:defRPr>
            </a:pPr>
            <a:r>
              <a:rPr sz="1800" b="1">
                <a:solidFill>
                  <a:srgbClr val="171717"/>
                </a:solidFill>
              </a:rPr>
              <a:t>찾는 속도는 AI로, 믿을 수 있는 결론은 근거와 검증으로</a:t>
            </a:r>
          </a:p>
        </p:txBody>
      </p:sp>
    </p:spTree>
    <p:extLst>
      <p:ext uri="{BB962C8B-B14F-4D97-AF65-F5344CB8AC3E}">
        <p14:creationId xmlns:p14="http://schemas.microsoft.com/office/powerpoint/2010/main" val="493322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2026-08-11T22:24:04.7500000Z</dcterms:created>
  <dcterms:modified xsi:type="dcterms:W3CDTF">2026-08-11T22:24:04.7500000Z</dcterms:modified>
</coreProperties>
</file>